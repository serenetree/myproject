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9"/>
  </p:notesMasterIdLst>
  <p:sldIdLst>
    <p:sldId id="1239" r:id="rId2"/>
    <p:sldId id="1352" r:id="rId3"/>
    <p:sldId id="1355" r:id="rId4"/>
    <p:sldId id="454" r:id="rId5"/>
    <p:sldId id="266" r:id="rId6"/>
    <p:sldId id="1353" r:id="rId7"/>
    <p:sldId id="1354" r:id="rId8"/>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Garamond" pitchFamily="18" charset="0"/>
        <a:ea typeface="+mn-ea"/>
        <a:cs typeface="+mn-cs"/>
      </a:defRPr>
    </a:lvl1pPr>
    <a:lvl2pPr marL="457200" algn="l" rtl="0" fontAlgn="base">
      <a:spcBef>
        <a:spcPct val="0"/>
      </a:spcBef>
      <a:spcAft>
        <a:spcPct val="0"/>
      </a:spcAft>
      <a:defRPr kern="1200">
        <a:solidFill>
          <a:schemeClr val="tx1"/>
        </a:solidFill>
        <a:latin typeface="Garamond" pitchFamily="18" charset="0"/>
        <a:ea typeface="+mn-ea"/>
        <a:cs typeface="+mn-cs"/>
      </a:defRPr>
    </a:lvl2pPr>
    <a:lvl3pPr marL="914400" algn="l" rtl="0" fontAlgn="base">
      <a:spcBef>
        <a:spcPct val="0"/>
      </a:spcBef>
      <a:spcAft>
        <a:spcPct val="0"/>
      </a:spcAft>
      <a:defRPr kern="1200">
        <a:solidFill>
          <a:schemeClr val="tx1"/>
        </a:solidFill>
        <a:latin typeface="Garamond" pitchFamily="18" charset="0"/>
        <a:ea typeface="+mn-ea"/>
        <a:cs typeface="+mn-cs"/>
      </a:defRPr>
    </a:lvl3pPr>
    <a:lvl4pPr marL="1371600" algn="l" rtl="0" fontAlgn="base">
      <a:spcBef>
        <a:spcPct val="0"/>
      </a:spcBef>
      <a:spcAft>
        <a:spcPct val="0"/>
      </a:spcAft>
      <a:defRPr kern="1200">
        <a:solidFill>
          <a:schemeClr val="tx1"/>
        </a:solidFill>
        <a:latin typeface="Garamond" pitchFamily="18" charset="0"/>
        <a:ea typeface="+mn-ea"/>
        <a:cs typeface="+mn-cs"/>
      </a:defRPr>
    </a:lvl4pPr>
    <a:lvl5pPr marL="1828800" algn="l" rtl="0" fontAlgn="base">
      <a:spcBef>
        <a:spcPct val="0"/>
      </a:spcBef>
      <a:spcAft>
        <a:spcPct val="0"/>
      </a:spcAft>
      <a:defRPr kern="1200">
        <a:solidFill>
          <a:schemeClr val="tx1"/>
        </a:solidFill>
        <a:latin typeface="Garamond" pitchFamily="18" charset="0"/>
        <a:ea typeface="+mn-ea"/>
        <a:cs typeface="+mn-cs"/>
      </a:defRPr>
    </a:lvl5pPr>
    <a:lvl6pPr marL="2286000" algn="l" defTabSz="914400" rtl="0" eaLnBrk="1" latinLnBrk="0" hangingPunct="1">
      <a:defRPr kern="1200">
        <a:solidFill>
          <a:schemeClr val="tx1"/>
        </a:solidFill>
        <a:latin typeface="Garamond" pitchFamily="18" charset="0"/>
        <a:ea typeface="+mn-ea"/>
        <a:cs typeface="+mn-cs"/>
      </a:defRPr>
    </a:lvl6pPr>
    <a:lvl7pPr marL="2743200" algn="l" defTabSz="914400" rtl="0" eaLnBrk="1" latinLnBrk="0" hangingPunct="1">
      <a:defRPr kern="1200">
        <a:solidFill>
          <a:schemeClr val="tx1"/>
        </a:solidFill>
        <a:latin typeface="Garamond" pitchFamily="18" charset="0"/>
        <a:ea typeface="+mn-ea"/>
        <a:cs typeface="+mn-cs"/>
      </a:defRPr>
    </a:lvl7pPr>
    <a:lvl8pPr marL="3200400" algn="l" defTabSz="914400" rtl="0" eaLnBrk="1" latinLnBrk="0" hangingPunct="1">
      <a:defRPr kern="1200">
        <a:solidFill>
          <a:schemeClr val="tx1"/>
        </a:solidFill>
        <a:latin typeface="Garamond" pitchFamily="18" charset="0"/>
        <a:ea typeface="+mn-ea"/>
        <a:cs typeface="+mn-cs"/>
      </a:defRPr>
    </a:lvl8pPr>
    <a:lvl9pPr marL="3657600" algn="l" defTabSz="914400" rtl="0" eaLnBrk="1" latinLnBrk="0" hangingPunct="1">
      <a:defRPr kern="1200">
        <a:solidFill>
          <a:schemeClr val="tx1"/>
        </a:solidFill>
        <a:latin typeface="Garamond"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CCECFF"/>
    <a:srgbClr val="FFFF99"/>
    <a:srgbClr val="43CEFF"/>
    <a:srgbClr val="8873C8"/>
    <a:srgbClr val="636363"/>
    <a:srgbClr val="C1C1C1"/>
    <a:srgbClr val="D4F8E9"/>
    <a:srgbClr val="2C50A0"/>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0" autoAdjust="0"/>
    <p:restoredTop sz="79435" autoAdjust="0"/>
  </p:normalViewPr>
  <p:slideViewPr>
    <p:cSldViewPr>
      <p:cViewPr varScale="1">
        <p:scale>
          <a:sx n="62" d="100"/>
          <a:sy n="62" d="100"/>
        </p:scale>
        <p:origin x="868" y="36"/>
      </p:cViewPr>
      <p:guideLst>
        <p:guide orient="horz" pos="2160"/>
        <p:guide pos="3840"/>
      </p:guideLst>
    </p:cSldViewPr>
  </p:slideViewPr>
  <p:outlineViewPr>
    <p:cViewPr>
      <p:scale>
        <a:sx n="33" d="100"/>
        <a:sy n="33" d="100"/>
      </p:scale>
      <p:origin x="0" y="-940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327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704EA0B6-19AF-43CD-8637-23D291AADAE0}" type="slidenum">
              <a:rPr lang="en-GB"/>
              <a:pPr>
                <a:defRPr/>
              </a:pPr>
              <a:t>‹#›</a:t>
            </a:fld>
            <a:endParaRPr lang="en-GB"/>
          </a:p>
        </p:txBody>
      </p:sp>
    </p:spTree>
    <p:extLst>
      <p:ext uri="{BB962C8B-B14F-4D97-AF65-F5344CB8AC3E}">
        <p14:creationId xmlns:p14="http://schemas.microsoft.com/office/powerpoint/2010/main" val="2114199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704EA0B6-19AF-43CD-8637-23D291AADAE0}" type="slidenum">
              <a:rPr lang="en-GB" smtClean="0"/>
              <a:pPr>
                <a:defRPr/>
              </a:pPr>
              <a:t>4</a:t>
            </a:fld>
            <a:endParaRPr lang="en-GB"/>
          </a:p>
        </p:txBody>
      </p:sp>
    </p:spTree>
    <p:extLst>
      <p:ext uri="{BB962C8B-B14F-4D97-AF65-F5344CB8AC3E}">
        <p14:creationId xmlns:p14="http://schemas.microsoft.com/office/powerpoint/2010/main" val="4249958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704EA0B6-19AF-43CD-8637-23D291AADAE0}" type="slidenum">
              <a:rPr lang="en-GB" smtClean="0"/>
              <a:pPr>
                <a:defRPr/>
              </a:pPr>
              <a:t>5</a:t>
            </a:fld>
            <a:endParaRPr lang="en-GB"/>
          </a:p>
        </p:txBody>
      </p:sp>
    </p:spTree>
    <p:extLst>
      <p:ext uri="{BB962C8B-B14F-4D97-AF65-F5344CB8AC3E}">
        <p14:creationId xmlns:p14="http://schemas.microsoft.com/office/powerpoint/2010/main" val="28755842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4" name="Picture 2" descr="Various photos of the Queen Mary, University of London campus"/>
          <p:cNvPicPr>
            <a:picLocks noChangeAspect="1" noChangeArrowheads="1"/>
          </p:cNvPicPr>
          <p:nvPr/>
        </p:nvPicPr>
        <p:blipFill>
          <a:blip r:embed="rId2" cstate="print">
            <a:lum bright="60000" contrast="-54000"/>
            <a:extLst>
              <a:ext uri="{28A0092B-C50C-407E-A947-70E740481C1C}">
                <a14:useLocalDpi xmlns:a14="http://schemas.microsoft.com/office/drawing/2010/main" val="0"/>
              </a:ext>
            </a:extLst>
          </a:blip>
          <a:srcRect/>
          <a:stretch>
            <a:fillRect/>
          </a:stretch>
        </p:blipFill>
        <p:spPr bwMode="auto">
          <a:xfrm>
            <a:off x="0" y="3691339"/>
            <a:ext cx="121920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20200" y="5887545"/>
            <a:ext cx="2381250" cy="669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3"/>
          <p:cNvSpPr>
            <a:spLocks noGrp="1" noChangeArrowheads="1"/>
          </p:cNvSpPr>
          <p:nvPr>
            <p:ph type="ctrTitle"/>
          </p:nvPr>
        </p:nvSpPr>
        <p:spPr>
          <a:xfrm>
            <a:off x="609600" y="1783955"/>
            <a:ext cx="10363200" cy="1260475"/>
          </a:xfrm>
        </p:spPr>
        <p:txBody>
          <a:bodyPr/>
          <a:lstStyle>
            <a:lvl1pPr algn="l">
              <a:defRPr sz="5000" b="1">
                <a:solidFill>
                  <a:srgbClr val="333399"/>
                </a:solidFill>
                <a:effectLst>
                  <a:outerShdw blurRad="38100" dist="38100" dir="2700000" algn="tl">
                    <a:srgbClr val="C0C0C0"/>
                  </a:outerShdw>
                </a:effectLst>
                <a:latin typeface="Arial" panose="020B0604020202020204" pitchFamily="34" charset="0"/>
                <a:cs typeface="Arial" panose="020B0604020202020204" pitchFamily="34" charset="0"/>
              </a:defRPr>
            </a:lvl1pPr>
          </a:lstStyle>
          <a:p>
            <a:r>
              <a:rPr lang="en-US" altLang="zh-CN" dirty="0"/>
              <a:t>Click to edit Master title style</a:t>
            </a:r>
          </a:p>
        </p:txBody>
      </p:sp>
      <p:sp>
        <p:nvSpPr>
          <p:cNvPr id="2" name="Rectangle 1">
            <a:extLst>
              <a:ext uri="{FF2B5EF4-FFF2-40B4-BE49-F238E27FC236}">
                <a16:creationId xmlns:a16="http://schemas.microsoft.com/office/drawing/2014/main" id="{47D99E72-9A68-A3DB-6366-A88CC7F4775C}"/>
              </a:ext>
            </a:extLst>
          </p:cNvPr>
          <p:cNvSpPr/>
          <p:nvPr userDrawn="1"/>
        </p:nvSpPr>
        <p:spPr>
          <a:xfrm>
            <a:off x="609600" y="635914"/>
            <a:ext cx="7924800" cy="430887"/>
          </a:xfrm>
          <a:prstGeom prst="rect">
            <a:avLst/>
          </a:prstGeom>
        </p:spPr>
        <p:txBody>
          <a:bodyPr wrap="square">
            <a:spAutoFit/>
          </a:bodyPr>
          <a:lstStyle/>
          <a:p>
            <a:pPr algn="l"/>
            <a:r>
              <a:rPr lang="en-GB" sz="2200" b="0" i="0" u="sng" kern="1200" dirty="0">
                <a:solidFill>
                  <a:srgbClr val="2C50A0"/>
                </a:solidFill>
                <a:effectLst/>
                <a:latin typeface="Arial" panose="020B0604020202020204" pitchFamily="34" charset="0"/>
                <a:ea typeface="+mn-ea"/>
                <a:cs typeface="Arial" panose="020B0604020202020204" pitchFamily="34" charset="0"/>
              </a:rPr>
              <a:t>ECS403U Communications and Networks</a:t>
            </a:r>
            <a:r>
              <a:rPr lang="en-GB" sz="2200" b="0" i="0" kern="1200" dirty="0">
                <a:solidFill>
                  <a:srgbClr val="2C50A0"/>
                </a:solidFill>
                <a:effectLst/>
                <a:latin typeface="Arial" panose="020B0604020202020204" pitchFamily="34" charset="0"/>
                <a:ea typeface="+mn-ea"/>
                <a:cs typeface="Arial" panose="020B0604020202020204" pitchFamily="34" charset="0"/>
              </a:rPr>
              <a:t>      </a:t>
            </a:r>
            <a:endParaRPr lang="en-GB" sz="2200" b="0" dirty="0">
              <a:solidFill>
                <a:srgbClr val="2C50A0"/>
              </a:solidFill>
              <a:latin typeface="Arial" pitchFamily="34" charset="0"/>
              <a:cs typeface="Arial" pitchFamily="34" charset="0"/>
            </a:endParaRPr>
          </a:p>
        </p:txBody>
      </p:sp>
      <p:sp>
        <p:nvSpPr>
          <p:cNvPr id="3" name="Rectangle 2">
            <a:extLst>
              <a:ext uri="{FF2B5EF4-FFF2-40B4-BE49-F238E27FC236}">
                <a16:creationId xmlns:a16="http://schemas.microsoft.com/office/drawing/2014/main" id="{340F402F-DAB3-9F37-811A-EF83B276C199}"/>
              </a:ext>
            </a:extLst>
          </p:cNvPr>
          <p:cNvSpPr/>
          <p:nvPr userDrawn="1"/>
        </p:nvSpPr>
        <p:spPr>
          <a:xfrm>
            <a:off x="609600" y="4903623"/>
            <a:ext cx="7721600" cy="872034"/>
          </a:xfrm>
          <a:prstGeom prst="rect">
            <a:avLst/>
          </a:prstGeom>
        </p:spPr>
        <p:txBody>
          <a:bodyPr wrap="square">
            <a:spAutoFit/>
          </a:bodyPr>
          <a:lstStyle/>
          <a:p>
            <a:pPr algn="l">
              <a:spcAft>
                <a:spcPts val="750"/>
              </a:spcAft>
            </a:pPr>
            <a:r>
              <a:rPr lang="en-GB" sz="2200" b="0" i="0" kern="1200" dirty="0">
                <a:solidFill>
                  <a:srgbClr val="2C50A0"/>
                </a:solidFill>
                <a:effectLst/>
                <a:latin typeface="Arial" panose="020B0604020202020204" pitchFamily="34" charset="0"/>
                <a:ea typeface="+mn-ea"/>
                <a:cs typeface="Arial" panose="020B0604020202020204" pitchFamily="34" charset="0"/>
              </a:rPr>
              <a:t>Yue Chen</a:t>
            </a:r>
          </a:p>
          <a:p>
            <a:pPr algn="l"/>
            <a:r>
              <a:rPr lang="en-GB" sz="2200" b="0" i="0" kern="1200" dirty="0">
                <a:solidFill>
                  <a:srgbClr val="2C50A0"/>
                </a:solidFill>
                <a:effectLst/>
                <a:latin typeface="Arial" panose="020B0604020202020204" pitchFamily="34" charset="0"/>
                <a:ea typeface="+mn-ea"/>
                <a:cs typeface="Arial" panose="020B0604020202020204" pitchFamily="34" charset="0"/>
              </a:rPr>
              <a:t>Professor of Telecommunications Engineering</a:t>
            </a:r>
          </a:p>
        </p:txBody>
      </p:sp>
    </p:spTree>
    <p:extLst>
      <p:ext uri="{BB962C8B-B14F-4D97-AF65-F5344CB8AC3E}">
        <p14:creationId xmlns:p14="http://schemas.microsoft.com/office/powerpoint/2010/main" val="24032610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atin typeface="Arial" panose="020B0604020202020204" pitchFamily="34" charset="0"/>
                <a:cs typeface="Arial" panose="020B0604020202020204" pitchFamily="34" charset="0"/>
              </a:defRPr>
            </a:lvl1pPr>
          </a:lstStyle>
          <a:p>
            <a:r>
              <a:rPr lang="en-US" dirty="0"/>
              <a:t>Click to edit Master title style</a:t>
            </a:r>
            <a:endParaRPr lang="en-GB" dirty="0"/>
          </a:p>
        </p:txBody>
      </p:sp>
      <p:sp>
        <p:nvSpPr>
          <p:cNvPr id="3" name="Content Placeholder 2"/>
          <p:cNvSpPr>
            <a:spLocks noGrp="1"/>
          </p:cNvSpPr>
          <p:nvPr>
            <p:ph idx="1"/>
          </p:nvPr>
        </p:nvSpPr>
        <p:spPr/>
        <p:txBody>
          <a:bodyPr/>
          <a:lstStyle>
            <a:lvl1pPr>
              <a:defRPr sz="2600">
                <a:latin typeface="Arial" panose="020B0604020202020204" pitchFamily="34" charset="0"/>
                <a:ea typeface="+mn-ea"/>
                <a:cs typeface="Arial" panose="020B0604020202020204" pitchFamily="34" charset="0"/>
              </a:defRPr>
            </a:lvl1pPr>
            <a:lvl2pPr>
              <a:defRPr sz="2400">
                <a:latin typeface="Arial" panose="020B0604020202020204" pitchFamily="34" charset="0"/>
                <a:ea typeface="+mn-ea"/>
                <a:cs typeface="Arial" panose="020B0604020202020204" pitchFamily="34" charset="0"/>
              </a:defRPr>
            </a:lvl2pPr>
            <a:lvl3pPr>
              <a:defRPr sz="2200">
                <a:latin typeface="Arial" panose="020B0604020202020204" pitchFamily="34" charset="0"/>
                <a:ea typeface="+mn-ea"/>
                <a:cs typeface="Arial" panose="020B0604020202020204" pitchFamily="34" charset="0"/>
              </a:defRPr>
            </a:lvl3pPr>
            <a:lvl4pPr>
              <a:defRPr>
                <a:latin typeface="+mn-ea"/>
                <a:ea typeface="+mn-ea"/>
                <a:cs typeface="Aharoni" pitchFamily="2" charset="-79"/>
              </a:defRPr>
            </a:lvl4pPr>
            <a:lvl5pPr>
              <a:defRPr>
                <a:latin typeface="+mn-ea"/>
                <a:ea typeface="+mn-ea"/>
                <a:cs typeface="Aharoni" pitchFamily="2" charset="-79"/>
              </a:defRPr>
            </a:lvl5pPr>
          </a:lstStyle>
          <a:p>
            <a:pPr lvl="0"/>
            <a:r>
              <a:rPr lang="en-US" altLang="zh-CN" dirty="0"/>
              <a:t>Click to edit Master text styles</a:t>
            </a:r>
          </a:p>
          <a:p>
            <a:pPr lvl="1"/>
            <a:r>
              <a:rPr lang="en-US" altLang="zh-CN" dirty="0"/>
              <a:t>Second level</a:t>
            </a:r>
          </a:p>
          <a:p>
            <a:pPr lvl="2"/>
            <a:r>
              <a:rPr lang="en-US" altLang="zh-CN" dirty="0"/>
              <a:t>Third level</a:t>
            </a:r>
          </a:p>
        </p:txBody>
      </p:sp>
      <p:sp>
        <p:nvSpPr>
          <p:cNvPr id="6" name="Rectangle 9">
            <a:extLst>
              <a:ext uri="{FF2B5EF4-FFF2-40B4-BE49-F238E27FC236}">
                <a16:creationId xmlns:a16="http://schemas.microsoft.com/office/drawing/2014/main" id="{5CB684DE-7EE3-8673-5275-51B1AAE4220C}"/>
              </a:ext>
            </a:extLst>
          </p:cNvPr>
          <p:cNvSpPr>
            <a:spLocks noGrp="1" noChangeArrowheads="1"/>
          </p:cNvSpPr>
          <p:nvPr>
            <p:ph type="sldNum" sz="quarter" idx="4"/>
          </p:nvPr>
        </p:nvSpPr>
        <p:spPr>
          <a:xfrm>
            <a:off x="0" y="6498732"/>
            <a:ext cx="609600" cy="283069"/>
          </a:xfrm>
          <a:prstGeom prst="rect">
            <a:avLst/>
          </a:prstGeom>
          <a:ln/>
        </p:spPr>
        <p:txBody>
          <a:bodyPr/>
          <a:lstStyle>
            <a:lvl1pPr algn="ctr">
              <a:defRPr sz="1000">
                <a:latin typeface="Arial" panose="020B0604020202020204" pitchFamily="34" charset="0"/>
                <a:cs typeface="Arial" panose="020B0604020202020204" pitchFamily="34" charset="0"/>
              </a:defRPr>
            </a:lvl1pPr>
          </a:lstStyle>
          <a:p>
            <a:pPr>
              <a:defRPr/>
            </a:pPr>
            <a:fld id="{D0EB2803-603C-4D04-9246-086957F40565}" type="slidenum">
              <a:rPr lang="zh-CN" altLang="en-US" smtClean="0"/>
              <a:pPr>
                <a:defRPr/>
              </a:pPr>
              <a:t>‹#›</a:t>
            </a:fld>
            <a:endParaRPr lang="en-US" altLang="zh-CN" dirty="0"/>
          </a:p>
        </p:txBody>
      </p:sp>
    </p:spTree>
    <p:extLst>
      <p:ext uri="{BB962C8B-B14F-4D97-AF65-F5344CB8AC3E}">
        <p14:creationId xmlns:p14="http://schemas.microsoft.com/office/powerpoint/2010/main" val="3481329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9">
            <a:extLst>
              <a:ext uri="{FF2B5EF4-FFF2-40B4-BE49-F238E27FC236}">
                <a16:creationId xmlns:a16="http://schemas.microsoft.com/office/drawing/2014/main" id="{0C5AC93D-9C8A-66CC-31B1-4214AFC3BABE}"/>
              </a:ext>
            </a:extLst>
          </p:cNvPr>
          <p:cNvSpPr>
            <a:spLocks noGrp="1" noChangeArrowheads="1"/>
          </p:cNvSpPr>
          <p:nvPr>
            <p:ph type="sldNum" sz="quarter" idx="4"/>
          </p:nvPr>
        </p:nvSpPr>
        <p:spPr>
          <a:xfrm>
            <a:off x="0" y="6498732"/>
            <a:ext cx="726016" cy="509587"/>
          </a:xfrm>
          <a:prstGeom prst="rect">
            <a:avLst/>
          </a:prstGeom>
          <a:ln/>
        </p:spPr>
        <p:txBody>
          <a:bodyPr/>
          <a:lstStyle>
            <a:lvl1pPr algn="ctr">
              <a:defRPr sz="1000">
                <a:latin typeface="Arial" panose="020B0604020202020204" pitchFamily="34" charset="0"/>
                <a:cs typeface="Arial" panose="020B0604020202020204" pitchFamily="34" charset="0"/>
              </a:defRPr>
            </a:lvl1pPr>
          </a:lstStyle>
          <a:p>
            <a:pPr>
              <a:defRPr/>
            </a:pPr>
            <a:fld id="{D0EB2803-603C-4D04-9246-086957F40565}" type="slidenum">
              <a:rPr lang="zh-CN" altLang="en-US" smtClean="0"/>
              <a:pPr>
                <a:defRPr/>
              </a:pPr>
              <a:t>‹#›</a:t>
            </a:fld>
            <a:endParaRPr lang="en-US" altLang="zh-CN" dirty="0"/>
          </a:p>
        </p:txBody>
      </p:sp>
    </p:spTree>
    <p:extLst>
      <p:ext uri="{BB962C8B-B14F-4D97-AF65-F5344CB8AC3E}">
        <p14:creationId xmlns:p14="http://schemas.microsoft.com/office/powerpoint/2010/main" val="1997550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9219616" y="6443093"/>
            <a:ext cx="2743200" cy="365125"/>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0365865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5"/>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dirty="0"/>
              <a:t>Click to edit Master title style</a:t>
            </a:r>
          </a:p>
        </p:txBody>
      </p:sp>
      <p:sp>
        <p:nvSpPr>
          <p:cNvPr id="1028" name="Rectangle 6"/>
          <p:cNvSpPr>
            <a:spLocks noGrp="1" noChangeArrowheads="1"/>
          </p:cNvSpPr>
          <p:nvPr>
            <p:ph type="body" idx="1"/>
          </p:nvPr>
        </p:nvSpPr>
        <p:spPr bwMode="auto">
          <a:xfrm>
            <a:off x="609600" y="1600205"/>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p:txBody>
      </p:sp>
      <p:sp>
        <p:nvSpPr>
          <p:cNvPr id="2" name="Rectangle 1"/>
          <p:cNvSpPr/>
          <p:nvPr userDrawn="1"/>
        </p:nvSpPr>
        <p:spPr>
          <a:xfrm>
            <a:off x="7905060" y="6498732"/>
            <a:ext cx="4267200" cy="246221"/>
          </a:xfrm>
          <a:prstGeom prst="rect">
            <a:avLst/>
          </a:prstGeom>
        </p:spPr>
        <p:txBody>
          <a:bodyPr wrap="square">
            <a:spAutoFit/>
          </a:bodyPr>
          <a:lstStyle/>
          <a:p>
            <a:pPr algn="r"/>
            <a:r>
              <a:rPr lang="en-GB" sz="1000" b="0" i="0" kern="1200" dirty="0">
                <a:solidFill>
                  <a:srgbClr val="2C50A0"/>
                </a:solidFill>
                <a:effectLst/>
                <a:latin typeface="Arial" panose="020B0604020202020204" pitchFamily="34" charset="0"/>
                <a:ea typeface="+mn-ea"/>
                <a:cs typeface="Arial" panose="020B0604020202020204" pitchFamily="34" charset="0"/>
              </a:rPr>
              <a:t>ECS403U Communications and Networks – 2024/25       </a:t>
            </a:r>
            <a:endParaRPr lang="en-GB" sz="1000" b="0" dirty="0">
              <a:solidFill>
                <a:srgbClr val="2C50A0"/>
              </a:solidFill>
              <a:latin typeface="Arial" pitchFamily="34" charset="0"/>
              <a:cs typeface="Arial" pitchFamily="34" charset="0"/>
            </a:endParaRPr>
          </a:p>
        </p:txBody>
      </p:sp>
      <p:sp>
        <p:nvSpPr>
          <p:cNvPr id="5" name="Rectangle 9"/>
          <p:cNvSpPr>
            <a:spLocks noGrp="1" noChangeArrowheads="1"/>
          </p:cNvSpPr>
          <p:nvPr>
            <p:ph type="sldNum" sz="quarter" idx="4"/>
          </p:nvPr>
        </p:nvSpPr>
        <p:spPr>
          <a:xfrm>
            <a:off x="0" y="6498732"/>
            <a:ext cx="726016" cy="509587"/>
          </a:xfrm>
          <a:prstGeom prst="rect">
            <a:avLst/>
          </a:prstGeom>
          <a:ln/>
        </p:spPr>
        <p:txBody>
          <a:bodyPr/>
          <a:lstStyle>
            <a:lvl1pPr algn="ctr">
              <a:defRPr sz="1000">
                <a:latin typeface="Arial" panose="020B0604020202020204" pitchFamily="34" charset="0"/>
                <a:cs typeface="Arial" panose="020B0604020202020204" pitchFamily="34" charset="0"/>
              </a:defRPr>
            </a:lvl1pPr>
          </a:lstStyle>
          <a:p>
            <a:pPr>
              <a:defRPr/>
            </a:pPr>
            <a:fld id="{D0EB2803-603C-4D04-9246-086957F40565}" type="slidenum">
              <a:rPr lang="zh-CN" altLang="en-US" smtClean="0"/>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3720" r:id="rId1"/>
    <p:sldLayoutId id="2147483710" r:id="rId2"/>
    <p:sldLayoutId id="2147483715" r:id="rId3"/>
    <p:sldLayoutId id="2147483722" r:id="rId4"/>
  </p:sldLayoutIdLst>
  <p:hf hdr="0" ftr="0" dt="0"/>
  <p:txStyles>
    <p:titleStyle>
      <a:lvl1pPr algn="l" rtl="0" eaLnBrk="0" fontAlgn="base" hangingPunct="0">
        <a:spcBef>
          <a:spcPct val="0"/>
        </a:spcBef>
        <a:spcAft>
          <a:spcPct val="0"/>
        </a:spcAft>
        <a:defRPr sz="3600" b="1">
          <a:solidFill>
            <a:schemeClr val="accent2"/>
          </a:solidFill>
          <a:latin typeface="Arial" panose="020B0604020202020204" pitchFamily="34" charset="0"/>
          <a:ea typeface="+mj-ea"/>
          <a:cs typeface="Arial" panose="020B0604020202020204" pitchFamily="34" charset="0"/>
        </a:defRPr>
      </a:lvl1pPr>
      <a:lvl2pPr algn="l" rtl="0" eaLnBrk="0" fontAlgn="base" hangingPunct="0">
        <a:spcBef>
          <a:spcPct val="0"/>
        </a:spcBef>
        <a:spcAft>
          <a:spcPct val="0"/>
        </a:spcAft>
        <a:defRPr sz="2700">
          <a:solidFill>
            <a:schemeClr val="accent2"/>
          </a:solidFill>
          <a:latin typeface="Garamond" pitchFamily="18" charset="0"/>
        </a:defRPr>
      </a:lvl2pPr>
      <a:lvl3pPr algn="l" rtl="0" eaLnBrk="0" fontAlgn="base" hangingPunct="0">
        <a:spcBef>
          <a:spcPct val="0"/>
        </a:spcBef>
        <a:spcAft>
          <a:spcPct val="0"/>
        </a:spcAft>
        <a:defRPr sz="2700">
          <a:solidFill>
            <a:schemeClr val="accent2"/>
          </a:solidFill>
          <a:latin typeface="Garamond" pitchFamily="18" charset="0"/>
        </a:defRPr>
      </a:lvl3pPr>
      <a:lvl4pPr algn="l" rtl="0" eaLnBrk="0" fontAlgn="base" hangingPunct="0">
        <a:spcBef>
          <a:spcPct val="0"/>
        </a:spcBef>
        <a:spcAft>
          <a:spcPct val="0"/>
        </a:spcAft>
        <a:defRPr sz="2700">
          <a:solidFill>
            <a:schemeClr val="accent2"/>
          </a:solidFill>
          <a:latin typeface="Garamond" pitchFamily="18" charset="0"/>
        </a:defRPr>
      </a:lvl4pPr>
      <a:lvl5pPr algn="l" rtl="0" eaLnBrk="0" fontAlgn="base" hangingPunct="0">
        <a:spcBef>
          <a:spcPct val="0"/>
        </a:spcBef>
        <a:spcAft>
          <a:spcPct val="0"/>
        </a:spcAft>
        <a:defRPr sz="2700">
          <a:solidFill>
            <a:schemeClr val="accent2"/>
          </a:solidFill>
          <a:latin typeface="Garamond" pitchFamily="18" charset="0"/>
        </a:defRPr>
      </a:lvl5pPr>
      <a:lvl6pPr marL="342900" algn="l" rtl="0" fontAlgn="base">
        <a:spcBef>
          <a:spcPct val="0"/>
        </a:spcBef>
        <a:spcAft>
          <a:spcPct val="0"/>
        </a:spcAft>
        <a:defRPr sz="2700">
          <a:solidFill>
            <a:schemeClr val="accent2"/>
          </a:solidFill>
          <a:latin typeface="Garamond" pitchFamily="18" charset="0"/>
        </a:defRPr>
      </a:lvl6pPr>
      <a:lvl7pPr marL="685800" algn="l" rtl="0" fontAlgn="base">
        <a:spcBef>
          <a:spcPct val="0"/>
        </a:spcBef>
        <a:spcAft>
          <a:spcPct val="0"/>
        </a:spcAft>
        <a:defRPr sz="2700">
          <a:solidFill>
            <a:schemeClr val="accent2"/>
          </a:solidFill>
          <a:latin typeface="Garamond" pitchFamily="18" charset="0"/>
        </a:defRPr>
      </a:lvl7pPr>
      <a:lvl8pPr marL="1028700" algn="l" rtl="0" fontAlgn="base">
        <a:spcBef>
          <a:spcPct val="0"/>
        </a:spcBef>
        <a:spcAft>
          <a:spcPct val="0"/>
        </a:spcAft>
        <a:defRPr sz="2700">
          <a:solidFill>
            <a:schemeClr val="accent2"/>
          </a:solidFill>
          <a:latin typeface="Garamond" pitchFamily="18" charset="0"/>
        </a:defRPr>
      </a:lvl8pPr>
      <a:lvl9pPr marL="1371600" algn="l" rtl="0" fontAlgn="base">
        <a:spcBef>
          <a:spcPct val="0"/>
        </a:spcBef>
        <a:spcAft>
          <a:spcPct val="0"/>
        </a:spcAft>
        <a:defRPr sz="2700">
          <a:solidFill>
            <a:schemeClr val="accent2"/>
          </a:solidFill>
          <a:latin typeface="Garamond" pitchFamily="18" charset="0"/>
        </a:defRPr>
      </a:lvl9pPr>
    </p:titleStyle>
    <p:bodyStyle>
      <a:lvl1pPr marL="257175" indent="-257175" algn="l" rtl="0" eaLnBrk="0" fontAlgn="base" hangingPunct="0">
        <a:spcBef>
          <a:spcPct val="20000"/>
        </a:spcBef>
        <a:spcAft>
          <a:spcPct val="0"/>
        </a:spcAft>
        <a:buSzPct val="50000"/>
        <a:buFont typeface="Wingdings" pitchFamily="2" charset="2"/>
        <a:buChar char="u"/>
        <a:defRPr sz="2600">
          <a:solidFill>
            <a:schemeClr val="tx1"/>
          </a:solidFill>
          <a:latin typeface="Arial" panose="020B0604020202020204" pitchFamily="34" charset="0"/>
          <a:ea typeface="+mn-ea"/>
          <a:cs typeface="Arial" panose="020B0604020202020204" pitchFamily="34" charset="0"/>
        </a:defRPr>
      </a:lvl1pPr>
      <a:lvl2pPr marL="557213" indent="-214313" algn="l" rtl="0" eaLnBrk="0" fontAlgn="base" hangingPunct="0">
        <a:spcBef>
          <a:spcPct val="20000"/>
        </a:spcBef>
        <a:spcAft>
          <a:spcPct val="0"/>
        </a:spcAft>
        <a:buSzPct val="50000"/>
        <a:buFont typeface="Wingdings" panose="05000000000000000000" pitchFamily="2" charset="2"/>
        <a:buChar char="Ø"/>
        <a:defRPr sz="2400">
          <a:solidFill>
            <a:schemeClr val="tx1"/>
          </a:solidFill>
          <a:latin typeface="Arial" panose="020B0604020202020204" pitchFamily="34" charset="0"/>
          <a:cs typeface="Arial" panose="020B0604020202020204" pitchFamily="34" charset="0"/>
        </a:defRPr>
      </a:lvl2pPr>
      <a:lvl3pPr marL="857250" indent="-171450" algn="l" rtl="0" eaLnBrk="0" fontAlgn="base" hangingPunct="0">
        <a:spcBef>
          <a:spcPct val="20000"/>
        </a:spcBef>
        <a:spcAft>
          <a:spcPct val="0"/>
        </a:spcAft>
        <a:buChar char="•"/>
        <a:defRPr sz="2200">
          <a:solidFill>
            <a:schemeClr val="tx1"/>
          </a:solidFill>
          <a:latin typeface="Arial" panose="020B0604020202020204" pitchFamily="34" charset="0"/>
          <a:cs typeface="Arial" panose="020B0604020202020204" pitchFamily="34" charset="0"/>
        </a:defRPr>
      </a:lvl3pPr>
      <a:lvl4pPr marL="1200150" indent="-171450" algn="l" rtl="0" eaLnBrk="0" fontAlgn="base" hangingPunct="0">
        <a:spcBef>
          <a:spcPct val="20000"/>
        </a:spcBef>
        <a:spcAft>
          <a:spcPct val="0"/>
        </a:spcAft>
        <a:buChar char="–"/>
        <a:defRPr sz="1500">
          <a:solidFill>
            <a:schemeClr val="tx1"/>
          </a:solidFill>
          <a:latin typeface="Arial" panose="020B0604020202020204" pitchFamily="34" charset="0"/>
          <a:cs typeface="Arial" panose="020B0604020202020204" pitchFamily="34" charset="0"/>
        </a:defRPr>
      </a:lvl4pPr>
      <a:lvl5pPr marL="1543050" indent="-171450" algn="l" rtl="0" eaLnBrk="0" fontAlgn="base" hangingPunct="0">
        <a:spcBef>
          <a:spcPct val="20000"/>
        </a:spcBef>
        <a:spcAft>
          <a:spcPct val="0"/>
        </a:spcAft>
        <a:buChar char="»"/>
        <a:defRPr sz="1500">
          <a:solidFill>
            <a:schemeClr val="tx1"/>
          </a:solidFill>
          <a:latin typeface="Arial" panose="020B0604020202020204" pitchFamily="34" charset="0"/>
          <a:cs typeface="Arial" panose="020B0604020202020204" pitchFamily="34" charset="0"/>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iana.org/number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15A50-DDA8-B512-BBCB-7BE4FE63A406}"/>
              </a:ext>
            </a:extLst>
          </p:cNvPr>
          <p:cNvSpPr>
            <a:spLocks noGrp="1"/>
          </p:cNvSpPr>
          <p:nvPr>
            <p:ph type="title"/>
          </p:nvPr>
        </p:nvSpPr>
        <p:spPr>
          <a:xfrm>
            <a:off x="609600" y="274638"/>
            <a:ext cx="10972800" cy="1143000"/>
          </a:xfrm>
        </p:spPr>
        <p:txBody>
          <a:bodyPr/>
          <a:lstStyle/>
          <a:p>
            <a:r>
              <a:rPr lang="en-US" dirty="0"/>
              <a:t>Group Project Overview </a:t>
            </a:r>
            <a:endParaRPr lang="en-GB" dirty="0"/>
          </a:p>
        </p:txBody>
      </p:sp>
      <p:sp>
        <p:nvSpPr>
          <p:cNvPr id="4" name="Slide Number Placeholder 3">
            <a:extLst>
              <a:ext uri="{FF2B5EF4-FFF2-40B4-BE49-F238E27FC236}">
                <a16:creationId xmlns:a16="http://schemas.microsoft.com/office/drawing/2014/main" id="{370CEF20-1F93-8A7D-DF33-D373E5E57FA2}"/>
              </a:ext>
            </a:extLst>
          </p:cNvPr>
          <p:cNvSpPr>
            <a:spLocks noGrp="1"/>
          </p:cNvSpPr>
          <p:nvPr>
            <p:ph type="sldNum" sz="quarter" idx="4"/>
          </p:nvPr>
        </p:nvSpPr>
        <p:spPr>
          <a:xfrm>
            <a:off x="0" y="6498732"/>
            <a:ext cx="609600" cy="283069"/>
          </a:xfrm>
        </p:spPr>
        <p:txBody>
          <a:bodyPr/>
          <a:lstStyle/>
          <a:p>
            <a:fld id="{D0EB2803-603C-4D04-9246-086957F40565}" type="slidenum">
              <a:rPr lang="zh-CN" altLang="en-US" smtClean="0"/>
              <a:pPr/>
              <a:t>1</a:t>
            </a:fld>
            <a:endParaRPr lang="en-US" altLang="zh-CN" dirty="0"/>
          </a:p>
        </p:txBody>
      </p:sp>
      <p:sp>
        <p:nvSpPr>
          <p:cNvPr id="6" name="Content Placeholder 2">
            <a:extLst>
              <a:ext uri="{FF2B5EF4-FFF2-40B4-BE49-F238E27FC236}">
                <a16:creationId xmlns:a16="http://schemas.microsoft.com/office/drawing/2014/main" id="{E2ABB253-38B4-E6A1-7A5D-1546004CEAD7}"/>
              </a:ext>
            </a:extLst>
          </p:cNvPr>
          <p:cNvSpPr txBox="1">
            <a:spLocks/>
          </p:cNvSpPr>
          <p:nvPr/>
        </p:nvSpPr>
        <p:spPr bwMode="auto">
          <a:xfrm>
            <a:off x="876300" y="1600200"/>
            <a:ext cx="105537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20000"/>
              </a:spcBef>
              <a:spcAft>
                <a:spcPct val="0"/>
              </a:spcAft>
              <a:buSzPct val="50000"/>
              <a:buFont typeface="Wingdings" pitchFamily="2" charset="2"/>
              <a:buChar char="u"/>
              <a:defRPr sz="2600">
                <a:solidFill>
                  <a:schemeClr val="tx1"/>
                </a:solidFill>
                <a:latin typeface="Arial" panose="020B0604020202020204" pitchFamily="34" charset="0"/>
                <a:ea typeface="+mn-ea"/>
                <a:cs typeface="Arial" panose="020B0604020202020204" pitchFamily="34" charset="0"/>
              </a:defRPr>
            </a:lvl1pPr>
            <a:lvl2pPr marL="557213" indent="-214313" algn="l" rtl="0" eaLnBrk="0" fontAlgn="base" hangingPunct="0">
              <a:spcBef>
                <a:spcPct val="20000"/>
              </a:spcBef>
              <a:spcAft>
                <a:spcPct val="0"/>
              </a:spcAft>
              <a:buSzPct val="50000"/>
              <a:buFont typeface="Wingdings" panose="05000000000000000000" pitchFamily="2" charset="2"/>
              <a:buChar char="Ø"/>
              <a:defRPr sz="2400">
                <a:solidFill>
                  <a:schemeClr val="tx1"/>
                </a:solidFill>
                <a:latin typeface="Arial" panose="020B0604020202020204" pitchFamily="34" charset="0"/>
                <a:ea typeface="+mn-ea"/>
                <a:cs typeface="Arial" panose="020B0604020202020204" pitchFamily="34" charset="0"/>
              </a:defRPr>
            </a:lvl2pPr>
            <a:lvl3pPr marL="857250" indent="-171450" algn="l" rtl="0" eaLnBrk="0" fontAlgn="base" hangingPunct="0">
              <a:spcBef>
                <a:spcPct val="20000"/>
              </a:spcBef>
              <a:spcAft>
                <a:spcPct val="0"/>
              </a:spcAft>
              <a:buChar char="•"/>
              <a:defRPr sz="2200">
                <a:solidFill>
                  <a:schemeClr val="tx1"/>
                </a:solidFill>
                <a:latin typeface="Arial" panose="020B0604020202020204" pitchFamily="34" charset="0"/>
                <a:ea typeface="+mn-ea"/>
                <a:cs typeface="Arial" panose="020B0604020202020204" pitchFamily="34" charset="0"/>
              </a:defRPr>
            </a:lvl3pPr>
            <a:lvl4pPr marL="1200150" indent="-171450" algn="l" rtl="0" eaLnBrk="0" fontAlgn="base" hangingPunct="0">
              <a:spcBef>
                <a:spcPct val="20000"/>
              </a:spcBef>
              <a:spcAft>
                <a:spcPct val="0"/>
              </a:spcAft>
              <a:buChar char="–"/>
              <a:defRPr sz="1500">
                <a:solidFill>
                  <a:schemeClr val="tx1"/>
                </a:solidFill>
                <a:latin typeface="+mn-ea"/>
                <a:ea typeface="+mn-ea"/>
                <a:cs typeface="Aharoni" pitchFamily="2" charset="-79"/>
              </a:defRPr>
            </a:lvl4pPr>
            <a:lvl5pPr marL="1543050" indent="-171450" algn="l" rtl="0" eaLnBrk="0" fontAlgn="base" hangingPunct="0">
              <a:spcBef>
                <a:spcPct val="20000"/>
              </a:spcBef>
              <a:spcAft>
                <a:spcPct val="0"/>
              </a:spcAft>
              <a:buChar char="»"/>
              <a:defRPr sz="1500">
                <a:solidFill>
                  <a:schemeClr val="tx1"/>
                </a:solidFill>
                <a:latin typeface="+mn-ea"/>
                <a:ea typeface="+mn-ea"/>
                <a:cs typeface="Aharoni" pitchFamily="2" charset="-79"/>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a:lstStyle>
          <a:p>
            <a:pPr marL="0" indent="0">
              <a:spcBef>
                <a:spcPts val="0"/>
              </a:spcBef>
              <a:spcAft>
                <a:spcPts val="1000"/>
              </a:spcAft>
              <a:buNone/>
            </a:pPr>
            <a:r>
              <a:rPr lang="en-US" sz="2400" dirty="0"/>
              <a:t>📌 </a:t>
            </a:r>
            <a:r>
              <a:rPr lang="en-US" sz="2400" b="1" dirty="0"/>
              <a:t>Topic:</a:t>
            </a:r>
            <a:r>
              <a:rPr lang="en-US" sz="2400" dirty="0"/>
              <a:t> Exploring the Transition from IPv4 to IPv6</a:t>
            </a:r>
          </a:p>
          <a:p>
            <a:pPr marL="0" indent="0">
              <a:spcBef>
                <a:spcPts val="0"/>
              </a:spcBef>
              <a:spcAft>
                <a:spcPts val="1000"/>
              </a:spcAft>
              <a:buNone/>
            </a:pPr>
            <a:r>
              <a:rPr lang="en-US" sz="500" dirty="0"/>
              <a:t> </a:t>
            </a:r>
            <a:br>
              <a:rPr lang="en-US" sz="2400" dirty="0"/>
            </a:br>
            <a:r>
              <a:rPr lang="en-US" sz="2400" dirty="0"/>
              <a:t>🔍 </a:t>
            </a:r>
            <a:r>
              <a:rPr lang="en-US" sz="2400" b="1" dirty="0"/>
              <a:t>Role:</a:t>
            </a:r>
            <a:r>
              <a:rPr lang="en-US" sz="2400" dirty="0"/>
              <a:t> Work as a team of Network Engineers in an Internet Engineering Task Force (IETF) working group</a:t>
            </a:r>
          </a:p>
          <a:p>
            <a:pPr marL="0" indent="0">
              <a:spcBef>
                <a:spcPts val="0"/>
              </a:spcBef>
              <a:spcAft>
                <a:spcPts val="1000"/>
              </a:spcAft>
              <a:buNone/>
            </a:pPr>
            <a:r>
              <a:rPr lang="en-US" sz="800" dirty="0"/>
              <a:t> </a:t>
            </a:r>
            <a:br>
              <a:rPr lang="en-US" sz="2400" dirty="0"/>
            </a:br>
            <a:r>
              <a:rPr lang="en-US" sz="2400" dirty="0"/>
              <a:t>🎯 </a:t>
            </a:r>
            <a:r>
              <a:rPr lang="en-US" sz="2400" b="1" dirty="0"/>
              <a:t>Objective:</a:t>
            </a:r>
            <a:r>
              <a:rPr lang="en-US" sz="2400" dirty="0"/>
              <a:t> Conduct comprehensive research and analysis on the transition from IPv4 to IPv6, to develop recommendations for the Internet Engineering Steering Group (IESG) on whether the Internet should fully transition to IPv6 as soon as possible.</a:t>
            </a:r>
          </a:p>
          <a:p>
            <a:pPr marL="0" indent="0">
              <a:spcBef>
                <a:spcPts val="0"/>
              </a:spcBef>
              <a:spcAft>
                <a:spcPts val="1000"/>
              </a:spcAft>
              <a:buNone/>
            </a:pPr>
            <a:r>
              <a:rPr lang="en-US" sz="800" dirty="0"/>
              <a:t> </a:t>
            </a:r>
            <a:br>
              <a:rPr lang="en-US" sz="2400" dirty="0"/>
            </a:br>
            <a:r>
              <a:rPr lang="en-US" sz="2400" dirty="0"/>
              <a:t>💡 </a:t>
            </a:r>
            <a:r>
              <a:rPr lang="en-US" sz="2400" b="1" dirty="0"/>
              <a:t>Assessment:</a:t>
            </a:r>
            <a:r>
              <a:rPr lang="en-US" sz="2400" dirty="0"/>
              <a:t> Use GenAI tools, critical reasoning, and research to support your stance.</a:t>
            </a:r>
          </a:p>
          <a:p>
            <a:pPr marL="0" indent="0">
              <a:spcBef>
                <a:spcPts val="0"/>
              </a:spcBef>
              <a:spcAft>
                <a:spcPts val="1000"/>
              </a:spcAft>
              <a:buNone/>
            </a:pPr>
            <a:r>
              <a:rPr lang="en-US" sz="800" dirty="0"/>
              <a:t> </a:t>
            </a:r>
            <a:br>
              <a:rPr lang="en-US" sz="2400" dirty="0"/>
            </a:br>
            <a:r>
              <a:rPr lang="en-US" sz="2400" dirty="0"/>
              <a:t>📑 </a:t>
            </a:r>
            <a:r>
              <a:rPr lang="en-US" sz="2400" b="1" dirty="0"/>
              <a:t>Deliverables:</a:t>
            </a:r>
            <a:r>
              <a:rPr lang="en-US" sz="2400" dirty="0"/>
              <a:t> Interim Project Progress log and Final Video Presentation</a:t>
            </a:r>
            <a:endParaRPr lang="en-US" sz="2400" kern="0" dirty="0"/>
          </a:p>
        </p:txBody>
      </p:sp>
    </p:spTree>
    <p:extLst>
      <p:ext uri="{BB962C8B-B14F-4D97-AF65-F5344CB8AC3E}">
        <p14:creationId xmlns:p14="http://schemas.microsoft.com/office/powerpoint/2010/main" val="1450322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0131C-240B-750F-FA94-7559714CF40A}"/>
              </a:ext>
            </a:extLst>
          </p:cNvPr>
          <p:cNvSpPr>
            <a:spLocks noGrp="1"/>
          </p:cNvSpPr>
          <p:nvPr>
            <p:ph type="title"/>
          </p:nvPr>
        </p:nvSpPr>
        <p:spPr>
          <a:xfrm>
            <a:off x="609600" y="274638"/>
            <a:ext cx="10972800" cy="1143000"/>
          </a:xfrm>
        </p:spPr>
        <p:txBody>
          <a:bodyPr/>
          <a:lstStyle/>
          <a:p>
            <a:r>
              <a:rPr lang="en-US" dirty="0"/>
              <a:t>Principles of Effective Prompt Engineering</a:t>
            </a:r>
            <a:endParaRPr lang="en-GB" dirty="0"/>
          </a:p>
        </p:txBody>
      </p:sp>
      <p:sp>
        <p:nvSpPr>
          <p:cNvPr id="9" name="Content Placeholder 8">
            <a:extLst>
              <a:ext uri="{FF2B5EF4-FFF2-40B4-BE49-F238E27FC236}">
                <a16:creationId xmlns:a16="http://schemas.microsoft.com/office/drawing/2014/main" id="{16848807-6ED5-5283-E577-B65A0709C337}"/>
              </a:ext>
            </a:extLst>
          </p:cNvPr>
          <p:cNvSpPr>
            <a:spLocks noGrp="1"/>
          </p:cNvSpPr>
          <p:nvPr>
            <p:ph idx="1"/>
          </p:nvPr>
        </p:nvSpPr>
        <p:spPr>
          <a:xfrm>
            <a:off x="609600" y="1600205"/>
            <a:ext cx="6934200" cy="4525963"/>
          </a:xfrm>
        </p:spPr>
        <p:txBody>
          <a:bodyPr/>
          <a:lstStyle/>
          <a:p>
            <a:r>
              <a:rPr lang="en-US" b="1" dirty="0"/>
              <a:t>Be Specific</a:t>
            </a:r>
            <a:r>
              <a:rPr lang="en-US" dirty="0"/>
              <a:t>: Provide detailed and clear instructions</a:t>
            </a:r>
          </a:p>
          <a:p>
            <a:r>
              <a:rPr lang="en-US" b="1" dirty="0"/>
              <a:t>Context Matters</a:t>
            </a:r>
            <a:r>
              <a:rPr lang="en-US" dirty="0"/>
              <a:t>: Give background information to improve response relevance</a:t>
            </a:r>
          </a:p>
          <a:p>
            <a:r>
              <a:rPr lang="en-US" b="1" dirty="0"/>
              <a:t>Iterate &amp; Refine</a:t>
            </a:r>
            <a:r>
              <a:rPr lang="en-US" dirty="0"/>
              <a:t>: Adjust your prompts based on initial responses</a:t>
            </a:r>
          </a:p>
          <a:p>
            <a:r>
              <a:rPr lang="en-US" b="1" dirty="0"/>
              <a:t>Ask for Structure</a:t>
            </a:r>
            <a:r>
              <a:rPr lang="en-US" dirty="0"/>
              <a:t>: Request step-by-step reasoning or citations</a:t>
            </a:r>
          </a:p>
          <a:p>
            <a:r>
              <a:rPr lang="en-US" b="1" dirty="0"/>
              <a:t>Use Constraints</a:t>
            </a:r>
            <a:r>
              <a:rPr lang="en-US" dirty="0"/>
              <a:t>: Define the length, format, or scope of responses</a:t>
            </a:r>
            <a:endParaRPr lang="en-GB" dirty="0"/>
          </a:p>
        </p:txBody>
      </p:sp>
      <p:sp>
        <p:nvSpPr>
          <p:cNvPr id="4" name="Slide Number Placeholder 3">
            <a:extLst>
              <a:ext uri="{FF2B5EF4-FFF2-40B4-BE49-F238E27FC236}">
                <a16:creationId xmlns:a16="http://schemas.microsoft.com/office/drawing/2014/main" id="{1440EAAF-51A3-6752-AD5B-E05E1A1DFF68}"/>
              </a:ext>
            </a:extLst>
          </p:cNvPr>
          <p:cNvSpPr>
            <a:spLocks noGrp="1"/>
          </p:cNvSpPr>
          <p:nvPr>
            <p:ph type="sldNum" sz="quarter" idx="4"/>
          </p:nvPr>
        </p:nvSpPr>
        <p:spPr>
          <a:xfrm>
            <a:off x="0" y="6498732"/>
            <a:ext cx="609600" cy="283069"/>
          </a:xfrm>
        </p:spPr>
        <p:txBody>
          <a:bodyPr/>
          <a:lstStyle/>
          <a:p>
            <a:fld id="{D0EB2803-603C-4D04-9246-086957F40565}" type="slidenum">
              <a:rPr lang="zh-CN" altLang="en-US" smtClean="0"/>
              <a:pPr/>
              <a:t>2</a:t>
            </a:fld>
            <a:endParaRPr lang="en-US" altLang="zh-CN" dirty="0"/>
          </a:p>
        </p:txBody>
      </p:sp>
      <p:pic>
        <p:nvPicPr>
          <p:cNvPr id="10" name="Picture 9">
            <a:extLst>
              <a:ext uri="{FF2B5EF4-FFF2-40B4-BE49-F238E27FC236}">
                <a16:creationId xmlns:a16="http://schemas.microsoft.com/office/drawing/2014/main" id="{8693839E-A658-FB4C-9C43-EB4FED529198}"/>
              </a:ext>
            </a:extLst>
          </p:cNvPr>
          <p:cNvPicPr>
            <a:picLocks noChangeAspect="1"/>
          </p:cNvPicPr>
          <p:nvPr/>
        </p:nvPicPr>
        <p:blipFill>
          <a:blip r:embed="rId2"/>
          <a:stretch>
            <a:fillRect/>
          </a:stretch>
        </p:blipFill>
        <p:spPr>
          <a:xfrm>
            <a:off x="7772400" y="1905000"/>
            <a:ext cx="3810000" cy="3810000"/>
          </a:xfrm>
          <a:prstGeom prst="rect">
            <a:avLst/>
          </a:prstGeom>
        </p:spPr>
      </p:pic>
      <p:sp>
        <p:nvSpPr>
          <p:cNvPr id="11" name="TextBox 10">
            <a:extLst>
              <a:ext uri="{FF2B5EF4-FFF2-40B4-BE49-F238E27FC236}">
                <a16:creationId xmlns:a16="http://schemas.microsoft.com/office/drawing/2014/main" id="{BE79EEF3-C54B-F60A-5A5C-63724C78F57C}"/>
              </a:ext>
            </a:extLst>
          </p:cNvPr>
          <p:cNvSpPr txBox="1"/>
          <p:nvPr/>
        </p:nvSpPr>
        <p:spPr>
          <a:xfrm>
            <a:off x="8839200" y="5791200"/>
            <a:ext cx="1903163" cy="246221"/>
          </a:xfrm>
          <a:prstGeom prst="rect">
            <a:avLst/>
          </a:prstGeom>
          <a:noFill/>
        </p:spPr>
        <p:txBody>
          <a:bodyPr wrap="square" rtlCol="0">
            <a:spAutoFit/>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21386A"/>
                </a:solidFill>
                <a:effectLst/>
                <a:uLnTx/>
                <a:uFillTx/>
                <a:latin typeface="Arial"/>
                <a:ea typeface="+mn-ea"/>
                <a:cs typeface="+mn-cs"/>
              </a:rPr>
              <a:t>Image created by DALL-E</a:t>
            </a:r>
            <a:endParaRPr kumimoji="0" lang="en-GB" sz="1000" b="0" i="1" u="none" strike="noStrike" kern="1200" cap="none" spc="0" normalizeH="0" baseline="0" noProof="0" dirty="0">
              <a:ln>
                <a:noFill/>
              </a:ln>
              <a:solidFill>
                <a:srgbClr val="21386A"/>
              </a:solidFill>
              <a:effectLst/>
              <a:uLnTx/>
              <a:uFillTx/>
              <a:latin typeface="Arial"/>
              <a:ea typeface="+mn-ea"/>
              <a:cs typeface="+mn-cs"/>
            </a:endParaRPr>
          </a:p>
        </p:txBody>
      </p:sp>
    </p:spTree>
    <p:extLst>
      <p:ext uri="{BB962C8B-B14F-4D97-AF65-F5344CB8AC3E}">
        <p14:creationId xmlns:p14="http://schemas.microsoft.com/office/powerpoint/2010/main" val="2845159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053FD-439C-1B56-C8BD-B17BD7122130}"/>
              </a:ext>
            </a:extLst>
          </p:cNvPr>
          <p:cNvSpPr>
            <a:spLocks noGrp="1"/>
          </p:cNvSpPr>
          <p:nvPr>
            <p:ph type="title"/>
          </p:nvPr>
        </p:nvSpPr>
        <p:spPr>
          <a:xfrm>
            <a:off x="609600" y="274638"/>
            <a:ext cx="11201400" cy="1143000"/>
          </a:xfrm>
        </p:spPr>
        <p:txBody>
          <a:bodyPr/>
          <a:lstStyle/>
          <a:p>
            <a:r>
              <a:rPr lang="en-US" sz="3500" dirty="0"/>
              <a:t>Crafting Effective Prompts Using Knowledge Learnt</a:t>
            </a:r>
            <a:endParaRPr lang="en-GB" sz="3500" dirty="0"/>
          </a:p>
        </p:txBody>
      </p:sp>
      <p:sp>
        <p:nvSpPr>
          <p:cNvPr id="3" name="Content Placeholder 2">
            <a:extLst>
              <a:ext uri="{FF2B5EF4-FFF2-40B4-BE49-F238E27FC236}">
                <a16:creationId xmlns:a16="http://schemas.microsoft.com/office/drawing/2014/main" id="{32601AE2-F337-EB52-344B-6735B55D7666}"/>
              </a:ext>
            </a:extLst>
          </p:cNvPr>
          <p:cNvSpPr>
            <a:spLocks noGrp="1"/>
          </p:cNvSpPr>
          <p:nvPr>
            <p:ph idx="1"/>
          </p:nvPr>
        </p:nvSpPr>
        <p:spPr>
          <a:xfrm>
            <a:off x="632637" y="1249513"/>
            <a:ext cx="10972800" cy="5417344"/>
          </a:xfrm>
        </p:spPr>
        <p:txBody>
          <a:bodyPr/>
          <a:lstStyle/>
          <a:p>
            <a:pPr marL="0" indent="0">
              <a:buNone/>
            </a:pPr>
            <a:r>
              <a:rPr lang="en-US" sz="2000" i="1" dirty="0"/>
              <a:t>How to Generate High-Quality Prompts?</a:t>
            </a:r>
          </a:p>
          <a:p>
            <a:r>
              <a:rPr lang="en-US" sz="2000" b="1" dirty="0"/>
              <a:t>Leverage Module Concepts</a:t>
            </a:r>
            <a:r>
              <a:rPr lang="en-US" sz="2000" dirty="0"/>
              <a:t> – Use your understanding of networking principles, performance metrics, and real-world constraints to frame meaningful queries.</a:t>
            </a:r>
          </a:p>
          <a:p>
            <a:r>
              <a:rPr lang="en-US" sz="2000" b="1" dirty="0"/>
              <a:t>Go Beyond the Basics</a:t>
            </a:r>
            <a:r>
              <a:rPr lang="en-US" sz="2000" dirty="0"/>
              <a:t> – Instead of just asking about costs or general challenges, focus on specific technical, economic, and practical aspects.</a:t>
            </a:r>
          </a:p>
          <a:p>
            <a:r>
              <a:rPr lang="en-US" sz="2000" b="1" dirty="0"/>
              <a:t>Encourage Deep Analysis</a:t>
            </a:r>
            <a:r>
              <a:rPr lang="en-US" sz="2000" dirty="0"/>
              <a:t> – Ask questions that push the AI to </a:t>
            </a:r>
            <a:r>
              <a:rPr lang="en-US" sz="2000" dirty="0" err="1"/>
              <a:t>analyse</a:t>
            </a:r>
            <a:r>
              <a:rPr lang="en-US" sz="2000" dirty="0"/>
              <a:t> trade-offs, compare scenarios, and provide structured reasoning.</a:t>
            </a:r>
          </a:p>
          <a:p>
            <a:r>
              <a:rPr lang="en-US" sz="2000" b="1" dirty="0"/>
              <a:t>Incorporate Real-World Applications</a:t>
            </a:r>
            <a:r>
              <a:rPr lang="en-US" sz="2000" dirty="0"/>
              <a:t> – Consider how IPv6 impacts emerging technologies like IoT, cloud computing, and 6G.</a:t>
            </a:r>
          </a:p>
          <a:p>
            <a:pPr marL="0" indent="0">
              <a:buNone/>
            </a:pPr>
            <a:r>
              <a:rPr lang="en-GB" sz="1600" dirty="0">
                <a:solidFill>
                  <a:srgbClr val="0033CC"/>
                </a:solidFill>
              </a:rPr>
              <a:t>Examples of Prompts:</a:t>
            </a:r>
          </a:p>
          <a:p>
            <a:pPr marL="0" indent="0">
              <a:buNone/>
            </a:pPr>
            <a:r>
              <a:rPr lang="en-US" sz="1600" i="1" dirty="0">
                <a:solidFill>
                  <a:srgbClr val="0033CC"/>
                </a:solidFill>
              </a:rPr>
              <a:t>"How would the transition to IPv6 impact real-time applications like autonomous vehicles and VR gaming, considering latency and packet loss?"</a:t>
            </a:r>
            <a:br>
              <a:rPr lang="en-US" sz="1600" dirty="0">
                <a:solidFill>
                  <a:srgbClr val="0033CC"/>
                </a:solidFill>
              </a:rPr>
            </a:br>
            <a:r>
              <a:rPr lang="en-US" sz="1600" i="1" dirty="0">
                <a:solidFill>
                  <a:srgbClr val="0033CC"/>
                </a:solidFill>
              </a:rPr>
              <a:t>"Will IPv6's design fulfill the performance and security requirements of next-gen AI-driven applications?“</a:t>
            </a:r>
          </a:p>
          <a:p>
            <a:pPr marL="0" indent="0">
              <a:buNone/>
            </a:pPr>
            <a:r>
              <a:rPr lang="en-US" sz="1600" dirty="0">
                <a:solidFill>
                  <a:srgbClr val="0033CC"/>
                </a:solidFill>
              </a:rPr>
              <a:t>"How does IPv6 influence Quality of Service (QoS) in 6G networks compared to IPv4?"</a:t>
            </a:r>
          </a:p>
          <a:p>
            <a:pPr marL="0" indent="0">
              <a:buNone/>
            </a:pPr>
            <a:r>
              <a:rPr lang="en-US" sz="1600" dirty="0">
                <a:solidFill>
                  <a:srgbClr val="0033CC"/>
                </a:solidFill>
              </a:rPr>
              <a:t>"What are the risks of delaying IPv6 adoption for global cloud service providers?"</a:t>
            </a:r>
            <a:br>
              <a:rPr lang="en-US" sz="1600" dirty="0">
                <a:solidFill>
                  <a:srgbClr val="0033CC"/>
                </a:solidFill>
              </a:rPr>
            </a:br>
            <a:r>
              <a:rPr lang="en-US" sz="1600" dirty="0">
                <a:solidFill>
                  <a:srgbClr val="0033CC"/>
                </a:solidFill>
              </a:rPr>
              <a:t>"Could IPv6 adoption lead to greater digital divides between developed and developing countries? Why?“</a:t>
            </a:r>
          </a:p>
          <a:p>
            <a:pPr marL="0" indent="0">
              <a:buNone/>
            </a:pPr>
            <a:r>
              <a:rPr lang="en-US" sz="1600" dirty="0">
                <a:solidFill>
                  <a:srgbClr val="0033CC"/>
                </a:solidFill>
              </a:rPr>
              <a:t>"What are the regulatory challenges governments might face when enforcing an IPv6 transition?"</a:t>
            </a:r>
          </a:p>
          <a:p>
            <a:pPr marL="0" indent="0">
              <a:buNone/>
            </a:pPr>
            <a:endParaRPr lang="en-GB" sz="2200" dirty="0">
              <a:solidFill>
                <a:srgbClr val="0033CC"/>
              </a:solidFill>
            </a:endParaRPr>
          </a:p>
        </p:txBody>
      </p:sp>
      <p:sp>
        <p:nvSpPr>
          <p:cNvPr id="4" name="Slide Number Placeholder 3">
            <a:extLst>
              <a:ext uri="{FF2B5EF4-FFF2-40B4-BE49-F238E27FC236}">
                <a16:creationId xmlns:a16="http://schemas.microsoft.com/office/drawing/2014/main" id="{D4E84F40-D9BC-2A75-4EFE-774BBDA3A906}"/>
              </a:ext>
            </a:extLst>
          </p:cNvPr>
          <p:cNvSpPr>
            <a:spLocks noGrp="1"/>
          </p:cNvSpPr>
          <p:nvPr>
            <p:ph type="sldNum" sz="quarter" idx="4"/>
          </p:nvPr>
        </p:nvSpPr>
        <p:spPr/>
        <p:txBody>
          <a:bodyPr/>
          <a:lstStyle/>
          <a:p>
            <a:pPr>
              <a:defRPr/>
            </a:pPr>
            <a:fld id="{D0EB2803-603C-4D04-9246-086957F40565}" type="slidenum">
              <a:rPr lang="zh-CN" altLang="en-US" smtClean="0"/>
              <a:pPr>
                <a:defRPr/>
              </a:pPr>
              <a:t>3</a:t>
            </a:fld>
            <a:endParaRPr lang="en-US" altLang="zh-CN" dirty="0"/>
          </a:p>
        </p:txBody>
      </p:sp>
    </p:spTree>
    <p:extLst>
      <p:ext uri="{BB962C8B-B14F-4D97-AF65-F5344CB8AC3E}">
        <p14:creationId xmlns:p14="http://schemas.microsoft.com/office/powerpoint/2010/main" val="832283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GB" dirty="0"/>
              <a:t>Validating AI-Generated Content</a:t>
            </a:r>
          </a:p>
        </p:txBody>
      </p:sp>
      <p:sp>
        <p:nvSpPr>
          <p:cNvPr id="3" name="Content Placeholder 2"/>
          <p:cNvSpPr>
            <a:spLocks noGrp="1"/>
          </p:cNvSpPr>
          <p:nvPr>
            <p:ph idx="1"/>
          </p:nvPr>
        </p:nvSpPr>
        <p:spPr>
          <a:xfrm>
            <a:off x="609600" y="1600205"/>
            <a:ext cx="6781800" cy="4525963"/>
          </a:xfrm>
        </p:spPr>
        <p:txBody>
          <a:bodyPr/>
          <a:lstStyle/>
          <a:p>
            <a:r>
              <a:rPr lang="en-US" b="1" dirty="0"/>
              <a:t>Cross-check information</a:t>
            </a:r>
            <a:r>
              <a:rPr lang="en-US" dirty="0"/>
              <a:t> with </a:t>
            </a:r>
            <a:r>
              <a:rPr lang="en-US" dirty="0">
                <a:solidFill>
                  <a:srgbClr val="0033CC"/>
                </a:solidFill>
              </a:rPr>
              <a:t>reliable sources</a:t>
            </a:r>
            <a:r>
              <a:rPr lang="en-US" dirty="0"/>
              <a:t> (IETF, IGF, academic papers)</a:t>
            </a:r>
          </a:p>
          <a:p>
            <a:r>
              <a:rPr lang="en-US" b="1" dirty="0"/>
              <a:t>Assess bias and potential errors</a:t>
            </a:r>
            <a:r>
              <a:rPr lang="en-US" dirty="0"/>
              <a:t> in AI responses</a:t>
            </a:r>
          </a:p>
          <a:p>
            <a:r>
              <a:rPr lang="en-US" b="1" dirty="0"/>
              <a:t>Compare different AI-generated perspectives</a:t>
            </a:r>
            <a:r>
              <a:rPr lang="en-US" dirty="0"/>
              <a:t> to identify inconsistencies</a:t>
            </a:r>
          </a:p>
          <a:p>
            <a:r>
              <a:rPr lang="en-US" b="1" dirty="0"/>
              <a:t>Use human judgment:</a:t>
            </a:r>
            <a:r>
              <a:rPr lang="en-US" dirty="0"/>
              <a:t> AI is a tool, not an authority!</a:t>
            </a:r>
          </a:p>
          <a:p>
            <a:r>
              <a:rPr lang="en-US" b="1" dirty="0"/>
              <a:t>Ensure all references and data points</a:t>
            </a:r>
            <a:r>
              <a:rPr lang="en-US" dirty="0"/>
              <a:t> are verifiable</a:t>
            </a:r>
            <a:endParaRPr lang="en-GB" dirty="0"/>
          </a:p>
        </p:txBody>
      </p:sp>
      <p:sp>
        <p:nvSpPr>
          <p:cNvPr id="4" name="Slide Number Placeholder 3"/>
          <p:cNvSpPr>
            <a:spLocks noGrp="1"/>
          </p:cNvSpPr>
          <p:nvPr>
            <p:ph type="sldNum" sz="quarter" idx="4"/>
          </p:nvPr>
        </p:nvSpPr>
        <p:spPr>
          <a:xfrm>
            <a:off x="0" y="6498732"/>
            <a:ext cx="609600" cy="283069"/>
          </a:xfrm>
        </p:spPr>
        <p:txBody>
          <a:bodyPr/>
          <a:lstStyle/>
          <a:p>
            <a:fld id="{D0EB2803-603C-4D04-9246-086957F40565}" type="slidenum">
              <a:rPr lang="zh-CN" altLang="en-US" smtClean="0"/>
              <a:pPr/>
              <a:t>4</a:t>
            </a:fld>
            <a:endParaRPr lang="en-US" altLang="zh-CN" dirty="0"/>
          </a:p>
        </p:txBody>
      </p:sp>
      <p:pic>
        <p:nvPicPr>
          <p:cNvPr id="6" name="Picture 5">
            <a:extLst>
              <a:ext uri="{FF2B5EF4-FFF2-40B4-BE49-F238E27FC236}">
                <a16:creationId xmlns:a16="http://schemas.microsoft.com/office/drawing/2014/main" id="{7AA379E8-69DC-904F-9C7C-A3BA217C6026}"/>
              </a:ext>
            </a:extLst>
          </p:cNvPr>
          <p:cNvPicPr>
            <a:picLocks noChangeAspect="1"/>
          </p:cNvPicPr>
          <p:nvPr/>
        </p:nvPicPr>
        <p:blipFill>
          <a:blip r:embed="rId3"/>
          <a:stretch>
            <a:fillRect/>
          </a:stretch>
        </p:blipFill>
        <p:spPr>
          <a:xfrm>
            <a:off x="7811381" y="1764215"/>
            <a:ext cx="3733805" cy="3733805"/>
          </a:xfrm>
          <a:prstGeom prst="rect">
            <a:avLst/>
          </a:prstGeom>
        </p:spPr>
      </p:pic>
      <p:sp>
        <p:nvSpPr>
          <p:cNvPr id="7" name="TextBox 6">
            <a:extLst>
              <a:ext uri="{FF2B5EF4-FFF2-40B4-BE49-F238E27FC236}">
                <a16:creationId xmlns:a16="http://schemas.microsoft.com/office/drawing/2014/main" id="{8CB9F357-2B96-A867-783D-F8DAD5A199B8}"/>
              </a:ext>
            </a:extLst>
          </p:cNvPr>
          <p:cNvSpPr txBox="1"/>
          <p:nvPr/>
        </p:nvSpPr>
        <p:spPr>
          <a:xfrm>
            <a:off x="8839200" y="5598376"/>
            <a:ext cx="1903163" cy="246221"/>
          </a:xfrm>
          <a:prstGeom prst="rect">
            <a:avLst/>
          </a:prstGeom>
          <a:noFill/>
        </p:spPr>
        <p:txBody>
          <a:bodyPr wrap="square" rtlCol="0">
            <a:spAutoFit/>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21386A"/>
                </a:solidFill>
                <a:effectLst/>
                <a:uLnTx/>
                <a:uFillTx/>
                <a:latin typeface="Arial"/>
                <a:ea typeface="+mn-ea"/>
                <a:cs typeface="+mn-cs"/>
              </a:rPr>
              <a:t>Image created by DALL-E</a:t>
            </a:r>
            <a:endParaRPr kumimoji="0" lang="en-GB" sz="1000" b="0" i="1" u="none" strike="noStrike" kern="1200" cap="none" spc="0" normalizeH="0" baseline="0" noProof="0" dirty="0">
              <a:ln>
                <a:noFill/>
              </a:ln>
              <a:solidFill>
                <a:srgbClr val="21386A"/>
              </a:solidFill>
              <a:effectLst/>
              <a:uLnTx/>
              <a:uFillTx/>
              <a:latin typeface="Arial"/>
              <a:ea typeface="+mn-ea"/>
              <a:cs typeface="+mn-cs"/>
            </a:endParaRPr>
          </a:p>
        </p:txBody>
      </p:sp>
    </p:spTree>
    <p:extLst>
      <p:ext uri="{BB962C8B-B14F-4D97-AF65-F5344CB8AC3E}">
        <p14:creationId xmlns:p14="http://schemas.microsoft.com/office/powerpoint/2010/main" val="3319401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7BF31-2540-264A-AC61-E6C5DDDB06C8}"/>
              </a:ext>
            </a:extLst>
          </p:cNvPr>
          <p:cNvSpPr>
            <a:spLocks noGrp="1"/>
          </p:cNvSpPr>
          <p:nvPr>
            <p:ph type="title"/>
          </p:nvPr>
        </p:nvSpPr>
        <p:spPr>
          <a:xfrm>
            <a:off x="609600" y="274638"/>
            <a:ext cx="10972800" cy="1143000"/>
          </a:xfrm>
        </p:spPr>
        <p:txBody>
          <a:bodyPr/>
          <a:lstStyle/>
          <a:p>
            <a:r>
              <a:rPr lang="en-US" dirty="0"/>
              <a:t>Using Group Discussion to Validate AI Outputs</a:t>
            </a:r>
          </a:p>
        </p:txBody>
      </p:sp>
      <p:sp>
        <p:nvSpPr>
          <p:cNvPr id="4" name="Slide Number Placeholder 3">
            <a:extLst>
              <a:ext uri="{FF2B5EF4-FFF2-40B4-BE49-F238E27FC236}">
                <a16:creationId xmlns:a16="http://schemas.microsoft.com/office/drawing/2014/main" id="{A9EC12B7-DE73-B5F1-9332-0C649E99EB59}"/>
              </a:ext>
            </a:extLst>
          </p:cNvPr>
          <p:cNvSpPr>
            <a:spLocks noGrp="1"/>
          </p:cNvSpPr>
          <p:nvPr>
            <p:ph type="sldNum" sz="quarter" idx="4"/>
          </p:nvPr>
        </p:nvSpPr>
        <p:spPr>
          <a:xfrm>
            <a:off x="0" y="6498732"/>
            <a:ext cx="609600" cy="283069"/>
          </a:xfrm>
        </p:spPr>
        <p:txBody>
          <a:bodyPr/>
          <a:lstStyle/>
          <a:p>
            <a:fld id="{74AA37FF-6985-46AC-A21E-EE4DE20FBE44}" type="slidenum">
              <a:rPr lang="zh-CN" altLang="en-US" smtClean="0"/>
              <a:pPr/>
              <a:t>5</a:t>
            </a:fld>
            <a:endParaRPr lang="en-US" altLang="zh-CN" dirty="0"/>
          </a:p>
        </p:txBody>
      </p:sp>
      <p:sp>
        <p:nvSpPr>
          <p:cNvPr id="6" name="Content Placeholder 2">
            <a:extLst>
              <a:ext uri="{FF2B5EF4-FFF2-40B4-BE49-F238E27FC236}">
                <a16:creationId xmlns:a16="http://schemas.microsoft.com/office/drawing/2014/main" id="{63F383A3-16F4-7EDE-0B91-3FBBFE828B3C}"/>
              </a:ext>
            </a:extLst>
          </p:cNvPr>
          <p:cNvSpPr txBox="1">
            <a:spLocks/>
          </p:cNvSpPr>
          <p:nvPr/>
        </p:nvSpPr>
        <p:spPr bwMode="auto">
          <a:xfrm>
            <a:off x="609600" y="1626744"/>
            <a:ext cx="73152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20000"/>
              </a:spcBef>
              <a:spcAft>
                <a:spcPct val="0"/>
              </a:spcAft>
              <a:buSzPct val="50000"/>
              <a:buFont typeface="Wingdings" pitchFamily="2" charset="2"/>
              <a:buChar char="u"/>
              <a:defRPr sz="2600">
                <a:solidFill>
                  <a:schemeClr val="tx1"/>
                </a:solidFill>
                <a:latin typeface="Arial" panose="020B0604020202020204" pitchFamily="34" charset="0"/>
                <a:ea typeface="+mn-ea"/>
                <a:cs typeface="Arial" panose="020B0604020202020204" pitchFamily="34" charset="0"/>
              </a:defRPr>
            </a:lvl1pPr>
            <a:lvl2pPr marL="557213" indent="-214313" algn="l" rtl="0" eaLnBrk="0" fontAlgn="base" hangingPunct="0">
              <a:spcBef>
                <a:spcPct val="20000"/>
              </a:spcBef>
              <a:spcAft>
                <a:spcPct val="0"/>
              </a:spcAft>
              <a:buSzPct val="50000"/>
              <a:buFont typeface="Wingdings" panose="05000000000000000000" pitchFamily="2" charset="2"/>
              <a:buChar char="Ø"/>
              <a:defRPr sz="2400">
                <a:solidFill>
                  <a:schemeClr val="tx1"/>
                </a:solidFill>
                <a:latin typeface="Arial" panose="020B0604020202020204" pitchFamily="34" charset="0"/>
                <a:ea typeface="+mn-ea"/>
                <a:cs typeface="Arial" panose="020B0604020202020204" pitchFamily="34" charset="0"/>
              </a:defRPr>
            </a:lvl2pPr>
            <a:lvl3pPr marL="857250" indent="-171450" algn="l" rtl="0" eaLnBrk="0" fontAlgn="base" hangingPunct="0">
              <a:spcBef>
                <a:spcPct val="20000"/>
              </a:spcBef>
              <a:spcAft>
                <a:spcPct val="0"/>
              </a:spcAft>
              <a:buChar char="•"/>
              <a:defRPr sz="2200">
                <a:solidFill>
                  <a:schemeClr val="tx1"/>
                </a:solidFill>
                <a:latin typeface="Arial" panose="020B0604020202020204" pitchFamily="34" charset="0"/>
                <a:ea typeface="+mn-ea"/>
                <a:cs typeface="Arial" panose="020B0604020202020204" pitchFamily="34" charset="0"/>
              </a:defRPr>
            </a:lvl3pPr>
            <a:lvl4pPr marL="1200150" indent="-171450" algn="l" rtl="0" eaLnBrk="0" fontAlgn="base" hangingPunct="0">
              <a:spcBef>
                <a:spcPct val="20000"/>
              </a:spcBef>
              <a:spcAft>
                <a:spcPct val="0"/>
              </a:spcAft>
              <a:buChar char="–"/>
              <a:defRPr sz="1500">
                <a:solidFill>
                  <a:schemeClr val="tx1"/>
                </a:solidFill>
                <a:latin typeface="+mn-ea"/>
                <a:ea typeface="+mn-ea"/>
                <a:cs typeface="Aharoni" pitchFamily="2" charset="-79"/>
              </a:defRPr>
            </a:lvl4pPr>
            <a:lvl5pPr marL="1543050" indent="-171450" algn="l" rtl="0" eaLnBrk="0" fontAlgn="base" hangingPunct="0">
              <a:spcBef>
                <a:spcPct val="20000"/>
              </a:spcBef>
              <a:spcAft>
                <a:spcPct val="0"/>
              </a:spcAft>
              <a:buChar char="»"/>
              <a:defRPr sz="1500">
                <a:solidFill>
                  <a:schemeClr val="tx1"/>
                </a:solidFill>
                <a:latin typeface="+mn-ea"/>
                <a:ea typeface="+mn-ea"/>
                <a:cs typeface="Aharoni" pitchFamily="2" charset="-79"/>
              </a:defRPr>
            </a:lvl5pPr>
            <a:lvl6pPr marL="1885950" indent="-171450" algn="l" rtl="0" fontAlgn="base">
              <a:spcBef>
                <a:spcPct val="20000"/>
              </a:spcBef>
              <a:spcAft>
                <a:spcPct val="0"/>
              </a:spcAft>
              <a:buChar char="»"/>
              <a:defRPr sz="1500">
                <a:solidFill>
                  <a:schemeClr val="tx1"/>
                </a:solidFill>
                <a:latin typeface="+mn-lt"/>
              </a:defRPr>
            </a:lvl6pPr>
            <a:lvl7pPr marL="2228850" indent="-171450" algn="l" rtl="0" fontAlgn="base">
              <a:spcBef>
                <a:spcPct val="20000"/>
              </a:spcBef>
              <a:spcAft>
                <a:spcPct val="0"/>
              </a:spcAft>
              <a:buChar char="»"/>
              <a:defRPr sz="1500">
                <a:solidFill>
                  <a:schemeClr val="tx1"/>
                </a:solidFill>
                <a:latin typeface="+mn-lt"/>
              </a:defRPr>
            </a:lvl7pPr>
            <a:lvl8pPr marL="2571750" indent="-171450" algn="l" rtl="0" fontAlgn="base">
              <a:spcBef>
                <a:spcPct val="20000"/>
              </a:spcBef>
              <a:spcAft>
                <a:spcPct val="0"/>
              </a:spcAft>
              <a:buChar char="»"/>
              <a:defRPr sz="1500">
                <a:solidFill>
                  <a:schemeClr val="tx1"/>
                </a:solidFill>
                <a:latin typeface="+mn-lt"/>
              </a:defRPr>
            </a:lvl8pPr>
            <a:lvl9pPr marL="2914650" indent="-171450" algn="l" rtl="0" fontAlgn="base">
              <a:spcBef>
                <a:spcPct val="20000"/>
              </a:spcBef>
              <a:spcAft>
                <a:spcPct val="0"/>
              </a:spcAft>
              <a:buChar char="»"/>
              <a:defRPr sz="1500">
                <a:solidFill>
                  <a:schemeClr val="tx1"/>
                </a:solidFill>
                <a:latin typeface="+mn-lt"/>
              </a:defRPr>
            </a:lvl9pPr>
          </a:lstStyle>
          <a:p>
            <a:r>
              <a:rPr lang="en-US" b="1" dirty="0"/>
              <a:t>Critically analyze AI </a:t>
            </a:r>
            <a:r>
              <a:rPr lang="en-US" dirty="0"/>
              <a:t>responses within your team</a:t>
            </a:r>
          </a:p>
          <a:p>
            <a:r>
              <a:rPr lang="en-US" b="1" dirty="0"/>
              <a:t>Compare AI-generated insights </a:t>
            </a:r>
            <a:r>
              <a:rPr lang="en-US" dirty="0"/>
              <a:t>with human research</a:t>
            </a:r>
          </a:p>
          <a:p>
            <a:r>
              <a:rPr lang="en-US" b="1" dirty="0"/>
              <a:t>Debate findings </a:t>
            </a:r>
            <a:r>
              <a:rPr lang="en-US" dirty="0"/>
              <a:t>to build a balanced argument</a:t>
            </a:r>
          </a:p>
          <a:p>
            <a:r>
              <a:rPr lang="en-US" dirty="0"/>
              <a:t>Use AI as </a:t>
            </a:r>
            <a:r>
              <a:rPr lang="en-US" b="1" dirty="0"/>
              <a:t>a brainstorming partner</a:t>
            </a:r>
            <a:r>
              <a:rPr lang="en-US" dirty="0"/>
              <a:t>, not </a:t>
            </a:r>
            <a:r>
              <a:rPr lang="en-US" b="1" dirty="0"/>
              <a:t>a final decision-maker</a:t>
            </a:r>
            <a:r>
              <a:rPr lang="en-US" dirty="0"/>
              <a:t>!</a:t>
            </a:r>
          </a:p>
          <a:p>
            <a:r>
              <a:rPr lang="en-US" b="1" dirty="0"/>
              <a:t>Challenge assumptions </a:t>
            </a:r>
            <a:r>
              <a:rPr lang="en-US" dirty="0"/>
              <a:t>and refine positions based on group discussions</a:t>
            </a:r>
            <a:endParaRPr lang="en-US" kern="0" dirty="0">
              <a:solidFill>
                <a:srgbClr val="FF0000"/>
              </a:solidFill>
            </a:endParaRPr>
          </a:p>
        </p:txBody>
      </p:sp>
      <p:pic>
        <p:nvPicPr>
          <p:cNvPr id="7" name="Picture 6">
            <a:extLst>
              <a:ext uri="{FF2B5EF4-FFF2-40B4-BE49-F238E27FC236}">
                <a16:creationId xmlns:a16="http://schemas.microsoft.com/office/drawing/2014/main" id="{E794DE72-09D7-2A43-44B5-AE12E2386492}"/>
              </a:ext>
            </a:extLst>
          </p:cNvPr>
          <p:cNvPicPr>
            <a:picLocks noChangeAspect="1"/>
          </p:cNvPicPr>
          <p:nvPr/>
        </p:nvPicPr>
        <p:blipFill>
          <a:blip r:embed="rId3"/>
          <a:stretch>
            <a:fillRect/>
          </a:stretch>
        </p:blipFill>
        <p:spPr>
          <a:xfrm>
            <a:off x="8064794" y="1905000"/>
            <a:ext cx="3505199" cy="3505199"/>
          </a:xfrm>
          <a:prstGeom prst="rect">
            <a:avLst/>
          </a:prstGeom>
        </p:spPr>
      </p:pic>
      <p:sp>
        <p:nvSpPr>
          <p:cNvPr id="8" name="TextBox 7">
            <a:extLst>
              <a:ext uri="{FF2B5EF4-FFF2-40B4-BE49-F238E27FC236}">
                <a16:creationId xmlns:a16="http://schemas.microsoft.com/office/drawing/2014/main" id="{F4F1DCA0-27D6-4440-EE72-25A3CDD45681}"/>
              </a:ext>
            </a:extLst>
          </p:cNvPr>
          <p:cNvSpPr txBox="1"/>
          <p:nvPr/>
        </p:nvSpPr>
        <p:spPr>
          <a:xfrm>
            <a:off x="8865813" y="5469650"/>
            <a:ext cx="1903163" cy="246221"/>
          </a:xfrm>
          <a:prstGeom prst="rect">
            <a:avLst/>
          </a:prstGeom>
          <a:noFill/>
        </p:spPr>
        <p:txBody>
          <a:bodyPr wrap="square" rtlCol="0">
            <a:spAutoFit/>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21386A"/>
                </a:solidFill>
                <a:effectLst/>
                <a:uLnTx/>
                <a:uFillTx/>
                <a:latin typeface="Arial"/>
                <a:ea typeface="+mn-ea"/>
                <a:cs typeface="+mn-cs"/>
              </a:rPr>
              <a:t>Image created by DALL-E</a:t>
            </a:r>
            <a:endParaRPr kumimoji="0" lang="en-GB" sz="1000" b="0" i="1" u="none" strike="noStrike" kern="1200" cap="none" spc="0" normalizeH="0" baseline="0" noProof="0" dirty="0">
              <a:ln>
                <a:noFill/>
              </a:ln>
              <a:solidFill>
                <a:srgbClr val="21386A"/>
              </a:solidFill>
              <a:effectLst/>
              <a:uLnTx/>
              <a:uFillTx/>
              <a:latin typeface="Arial"/>
              <a:ea typeface="+mn-ea"/>
              <a:cs typeface="+mn-cs"/>
            </a:endParaRPr>
          </a:p>
        </p:txBody>
      </p:sp>
    </p:spTree>
    <p:extLst>
      <p:ext uri="{BB962C8B-B14F-4D97-AF65-F5344CB8AC3E}">
        <p14:creationId xmlns:p14="http://schemas.microsoft.com/office/powerpoint/2010/main" val="482913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3118F-3B06-3721-ED89-E6E2F3774B1E}"/>
              </a:ext>
            </a:extLst>
          </p:cNvPr>
          <p:cNvSpPr>
            <a:spLocks noGrp="1"/>
          </p:cNvSpPr>
          <p:nvPr>
            <p:ph type="title"/>
          </p:nvPr>
        </p:nvSpPr>
        <p:spPr/>
        <p:txBody>
          <a:bodyPr/>
          <a:lstStyle/>
          <a:p>
            <a:r>
              <a:rPr lang="en-US" dirty="0"/>
              <a:t>Example – Poor vs. Good Argument</a:t>
            </a:r>
            <a:endParaRPr lang="en-GB" dirty="0"/>
          </a:p>
        </p:txBody>
      </p:sp>
      <p:sp>
        <p:nvSpPr>
          <p:cNvPr id="3" name="Content Placeholder 2">
            <a:extLst>
              <a:ext uri="{FF2B5EF4-FFF2-40B4-BE49-F238E27FC236}">
                <a16:creationId xmlns:a16="http://schemas.microsoft.com/office/drawing/2014/main" id="{69C6FB09-DD6F-078B-05E7-E878F0EBF308}"/>
              </a:ext>
            </a:extLst>
          </p:cNvPr>
          <p:cNvSpPr>
            <a:spLocks noGrp="1"/>
          </p:cNvSpPr>
          <p:nvPr>
            <p:ph idx="1"/>
          </p:nvPr>
        </p:nvSpPr>
        <p:spPr>
          <a:xfrm>
            <a:off x="685800" y="1295400"/>
            <a:ext cx="10972800" cy="4525963"/>
          </a:xfrm>
        </p:spPr>
        <p:txBody>
          <a:bodyPr/>
          <a:lstStyle/>
          <a:p>
            <a:r>
              <a:rPr lang="en-US" b="1" dirty="0"/>
              <a:t>Poor argument</a:t>
            </a:r>
          </a:p>
          <a:p>
            <a:pPr marL="0" indent="0">
              <a:buNone/>
            </a:pPr>
            <a:r>
              <a:rPr lang="en-US" sz="2000" i="1" dirty="0"/>
              <a:t>“IPv6 adoption is inevitable due to the exhaustion of IPv4 addresses, enhanced security, and long-term cost benefits.“</a:t>
            </a:r>
          </a:p>
          <a:p>
            <a:pPr marL="0" indent="0">
              <a:buNone/>
            </a:pPr>
            <a:r>
              <a:rPr lang="en-US" sz="2000" dirty="0">
                <a:solidFill>
                  <a:srgbClr val="FF0000"/>
                </a:solidFill>
              </a:rPr>
              <a:t>Very general statement, no new insights, no supporting data, and no in-depth analysis!</a:t>
            </a:r>
          </a:p>
          <a:p>
            <a:r>
              <a:rPr lang="en-US" b="1" dirty="0"/>
              <a:t>Good argument</a:t>
            </a:r>
          </a:p>
          <a:p>
            <a:pPr marL="0" indent="0">
              <a:buNone/>
            </a:pPr>
            <a:r>
              <a:rPr lang="en-GB" sz="2000" dirty="0"/>
              <a:t>“</a:t>
            </a:r>
            <a:r>
              <a:rPr lang="en-GB" sz="2000" i="1" dirty="0"/>
              <a:t>According to </a:t>
            </a:r>
            <a:r>
              <a:rPr lang="en-GB" sz="2000" i="1" dirty="0">
                <a:hlinkClick r:id="rId2"/>
              </a:rPr>
              <a:t>IANA</a:t>
            </a:r>
            <a:r>
              <a:rPr lang="en-GB" sz="2000" i="1" dirty="0"/>
              <a:t> report, 99% of IPv4 addresses have been allocated. </a:t>
            </a:r>
            <a:r>
              <a:rPr lang="en-US" sz="2000" i="1" dirty="0"/>
              <a:t>Maintaining IPv4 alongside IPv6 increases operational costs due to network complexity and NAT overhead</a:t>
            </a:r>
            <a:r>
              <a:rPr lang="en-US" sz="2000" dirty="0"/>
              <a:t>…..</a:t>
            </a:r>
            <a:r>
              <a:rPr lang="en-US" sz="2000" i="1" dirty="0">
                <a:solidFill>
                  <a:srgbClr val="0033CC"/>
                </a:solidFill>
              </a:rPr>
              <a:t>backed up with data/evidence on the estimation of additional operational costs and security risks </a:t>
            </a:r>
            <a:r>
              <a:rPr lang="en-US" sz="2000" i="1" dirty="0" err="1">
                <a:solidFill>
                  <a:srgbClr val="0033CC"/>
                </a:solidFill>
              </a:rPr>
              <a:t>etc</a:t>
            </a:r>
            <a:r>
              <a:rPr lang="en-GB" sz="2000" dirty="0"/>
              <a:t>” (For immediate transition)</a:t>
            </a:r>
          </a:p>
          <a:p>
            <a:pPr marL="0" indent="0">
              <a:buNone/>
            </a:pPr>
            <a:r>
              <a:rPr lang="en-GB" sz="2000" dirty="0"/>
              <a:t>“</a:t>
            </a:r>
            <a:r>
              <a:rPr lang="en-GB" sz="2000" i="1" dirty="0"/>
              <a:t>Although 99% of IPv4 addresses have been allocated (IANA), </a:t>
            </a:r>
            <a:r>
              <a:rPr lang="en-US" sz="2000" i="1" dirty="0"/>
              <a:t>an immediate full transition is impractical. Only x% of global internet traffic currently runs on IPv6 (IGF, 2023). A forced transition would impose high costs on businesses and governments, with estimates suggesting </a:t>
            </a:r>
            <a:r>
              <a:rPr lang="en-US" sz="2000" dirty="0"/>
              <a:t>…..</a:t>
            </a:r>
            <a:r>
              <a:rPr lang="en-US" sz="2000" i="1" dirty="0">
                <a:solidFill>
                  <a:srgbClr val="0033CC"/>
                </a:solidFill>
              </a:rPr>
              <a:t>backed up with data/evidence</a:t>
            </a:r>
            <a:r>
              <a:rPr lang="en-GB" sz="2000" dirty="0"/>
              <a:t>” (Against immediate transition)</a:t>
            </a:r>
          </a:p>
          <a:p>
            <a:pPr marL="0" indent="0">
              <a:buNone/>
            </a:pPr>
            <a:r>
              <a:rPr lang="en-GB" sz="2000" dirty="0">
                <a:solidFill>
                  <a:srgbClr val="FF0000"/>
                </a:solidFill>
              </a:rPr>
              <a:t>Backed by validated data, address challenges or counterarguments, </a:t>
            </a:r>
            <a:r>
              <a:rPr lang="en-US" sz="2000" dirty="0">
                <a:solidFill>
                  <a:srgbClr val="FF0000"/>
                </a:solidFill>
              </a:rPr>
              <a:t>support claims with evidence and  justifications.</a:t>
            </a:r>
            <a:endParaRPr lang="en-GB" sz="2000" dirty="0">
              <a:solidFill>
                <a:srgbClr val="FF0000"/>
              </a:solidFill>
            </a:endParaRPr>
          </a:p>
          <a:p>
            <a:pPr marL="0" indent="0">
              <a:buNone/>
            </a:pPr>
            <a:endParaRPr lang="en-GB" sz="2200" dirty="0"/>
          </a:p>
        </p:txBody>
      </p:sp>
      <p:sp>
        <p:nvSpPr>
          <p:cNvPr id="4" name="Slide Number Placeholder 3">
            <a:extLst>
              <a:ext uri="{FF2B5EF4-FFF2-40B4-BE49-F238E27FC236}">
                <a16:creationId xmlns:a16="http://schemas.microsoft.com/office/drawing/2014/main" id="{4D36C4B2-A592-C301-D8E9-06F2A9C1F12C}"/>
              </a:ext>
            </a:extLst>
          </p:cNvPr>
          <p:cNvSpPr>
            <a:spLocks noGrp="1"/>
          </p:cNvSpPr>
          <p:nvPr>
            <p:ph type="sldNum" sz="quarter" idx="4"/>
          </p:nvPr>
        </p:nvSpPr>
        <p:spPr/>
        <p:txBody>
          <a:bodyPr/>
          <a:lstStyle/>
          <a:p>
            <a:pPr>
              <a:defRPr/>
            </a:pPr>
            <a:fld id="{D0EB2803-603C-4D04-9246-086957F40565}" type="slidenum">
              <a:rPr lang="zh-CN" altLang="en-US" smtClean="0"/>
              <a:pPr>
                <a:defRPr/>
              </a:pPr>
              <a:t>6</a:t>
            </a:fld>
            <a:endParaRPr lang="en-US" altLang="zh-CN" dirty="0"/>
          </a:p>
        </p:txBody>
      </p:sp>
    </p:spTree>
    <p:extLst>
      <p:ext uri="{BB962C8B-B14F-4D97-AF65-F5344CB8AC3E}">
        <p14:creationId xmlns:p14="http://schemas.microsoft.com/office/powerpoint/2010/main" val="3861444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B37AD-497C-AE97-B8D8-2955F06B51DD}"/>
              </a:ext>
            </a:extLst>
          </p:cNvPr>
          <p:cNvSpPr>
            <a:spLocks noGrp="1"/>
          </p:cNvSpPr>
          <p:nvPr>
            <p:ph type="title"/>
          </p:nvPr>
        </p:nvSpPr>
        <p:spPr/>
        <p:txBody>
          <a:bodyPr/>
          <a:lstStyle/>
          <a:p>
            <a:r>
              <a:rPr lang="en-US" dirty="0"/>
              <a:t>Key Takeaways</a:t>
            </a:r>
            <a:endParaRPr lang="en-GB" dirty="0"/>
          </a:p>
        </p:txBody>
      </p:sp>
      <p:sp>
        <p:nvSpPr>
          <p:cNvPr id="3" name="Content Placeholder 2">
            <a:extLst>
              <a:ext uri="{FF2B5EF4-FFF2-40B4-BE49-F238E27FC236}">
                <a16:creationId xmlns:a16="http://schemas.microsoft.com/office/drawing/2014/main" id="{8B418F98-9165-BD92-6906-201E8B6B1930}"/>
              </a:ext>
            </a:extLst>
          </p:cNvPr>
          <p:cNvSpPr>
            <a:spLocks noGrp="1"/>
          </p:cNvSpPr>
          <p:nvPr>
            <p:ph idx="1"/>
          </p:nvPr>
        </p:nvSpPr>
        <p:spPr>
          <a:xfrm>
            <a:off x="533400" y="1524000"/>
            <a:ext cx="6781800" cy="4525963"/>
          </a:xfrm>
        </p:spPr>
        <p:txBody>
          <a:bodyPr/>
          <a:lstStyle/>
          <a:p>
            <a:r>
              <a:rPr lang="en-US" dirty="0"/>
              <a:t>Use AI as a starting point, but validate with human expertise</a:t>
            </a:r>
          </a:p>
          <a:p>
            <a:r>
              <a:rPr lang="en-US" dirty="0"/>
              <a:t>Engage in group discussions to refine AI-generated insights</a:t>
            </a:r>
          </a:p>
          <a:p>
            <a:r>
              <a:rPr lang="en-US" dirty="0"/>
              <a:t>Iterate on prompts to get clearer, more structured responses</a:t>
            </a:r>
          </a:p>
          <a:p>
            <a:r>
              <a:rPr lang="en-US" dirty="0"/>
              <a:t>Be aware of biases and cross-check all critical information</a:t>
            </a:r>
          </a:p>
          <a:p>
            <a:r>
              <a:rPr lang="en-US" dirty="0"/>
              <a:t>Make your final argument </a:t>
            </a:r>
            <a:r>
              <a:rPr lang="en-US" b="1" dirty="0"/>
              <a:t>well-reasoned, structured, and evidence-based!</a:t>
            </a:r>
            <a:endParaRPr lang="en-GB" b="1" dirty="0"/>
          </a:p>
        </p:txBody>
      </p:sp>
      <p:sp>
        <p:nvSpPr>
          <p:cNvPr id="4" name="Slide Number Placeholder 3">
            <a:extLst>
              <a:ext uri="{FF2B5EF4-FFF2-40B4-BE49-F238E27FC236}">
                <a16:creationId xmlns:a16="http://schemas.microsoft.com/office/drawing/2014/main" id="{3B5364B9-148B-25E0-2DBF-6D9343DCF801}"/>
              </a:ext>
            </a:extLst>
          </p:cNvPr>
          <p:cNvSpPr>
            <a:spLocks noGrp="1"/>
          </p:cNvSpPr>
          <p:nvPr>
            <p:ph type="sldNum" sz="quarter" idx="4"/>
          </p:nvPr>
        </p:nvSpPr>
        <p:spPr/>
        <p:txBody>
          <a:bodyPr/>
          <a:lstStyle/>
          <a:p>
            <a:pPr>
              <a:defRPr/>
            </a:pPr>
            <a:fld id="{D0EB2803-603C-4D04-9246-086957F40565}" type="slidenum">
              <a:rPr lang="zh-CN" altLang="en-US" smtClean="0"/>
              <a:pPr>
                <a:defRPr/>
              </a:pPr>
              <a:t>7</a:t>
            </a:fld>
            <a:endParaRPr lang="en-US" altLang="zh-CN" dirty="0"/>
          </a:p>
        </p:txBody>
      </p:sp>
      <p:pic>
        <p:nvPicPr>
          <p:cNvPr id="6" name="Picture 5">
            <a:extLst>
              <a:ext uri="{FF2B5EF4-FFF2-40B4-BE49-F238E27FC236}">
                <a16:creationId xmlns:a16="http://schemas.microsoft.com/office/drawing/2014/main" id="{4F5583AF-88F5-7917-9F27-CD8FE37F2154}"/>
              </a:ext>
            </a:extLst>
          </p:cNvPr>
          <p:cNvPicPr>
            <a:picLocks noChangeAspect="1"/>
          </p:cNvPicPr>
          <p:nvPr/>
        </p:nvPicPr>
        <p:blipFill>
          <a:blip r:embed="rId2"/>
          <a:stretch>
            <a:fillRect/>
          </a:stretch>
        </p:blipFill>
        <p:spPr>
          <a:xfrm>
            <a:off x="7736949" y="1676400"/>
            <a:ext cx="3818870" cy="3818870"/>
          </a:xfrm>
          <a:prstGeom prst="rect">
            <a:avLst/>
          </a:prstGeom>
        </p:spPr>
      </p:pic>
      <p:sp>
        <p:nvSpPr>
          <p:cNvPr id="7" name="TextBox 6">
            <a:extLst>
              <a:ext uri="{FF2B5EF4-FFF2-40B4-BE49-F238E27FC236}">
                <a16:creationId xmlns:a16="http://schemas.microsoft.com/office/drawing/2014/main" id="{DC304328-6456-D7EC-9E2C-864889262214}"/>
              </a:ext>
            </a:extLst>
          </p:cNvPr>
          <p:cNvSpPr txBox="1"/>
          <p:nvPr/>
        </p:nvSpPr>
        <p:spPr>
          <a:xfrm>
            <a:off x="8839200" y="5576137"/>
            <a:ext cx="1903163" cy="246221"/>
          </a:xfrm>
          <a:prstGeom prst="rect">
            <a:avLst/>
          </a:prstGeom>
          <a:noFill/>
        </p:spPr>
        <p:txBody>
          <a:bodyPr wrap="square" rtlCol="0">
            <a:spAutoFit/>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21386A"/>
                </a:solidFill>
                <a:effectLst/>
                <a:uLnTx/>
                <a:uFillTx/>
                <a:latin typeface="Arial"/>
                <a:ea typeface="+mn-ea"/>
                <a:cs typeface="+mn-cs"/>
              </a:rPr>
              <a:t>Image created by DALL-E</a:t>
            </a:r>
            <a:endParaRPr kumimoji="0" lang="en-GB" sz="1000" b="0" i="1" u="none" strike="noStrike" kern="1200" cap="none" spc="0" normalizeH="0" baseline="0" noProof="0" dirty="0">
              <a:ln>
                <a:noFill/>
              </a:ln>
              <a:solidFill>
                <a:srgbClr val="21386A"/>
              </a:solidFill>
              <a:effectLst/>
              <a:uLnTx/>
              <a:uFillTx/>
              <a:latin typeface="Arial"/>
              <a:ea typeface="+mn-ea"/>
              <a:cs typeface="+mn-cs"/>
            </a:endParaRPr>
          </a:p>
        </p:txBody>
      </p:sp>
    </p:spTree>
    <p:extLst>
      <p:ext uri="{BB962C8B-B14F-4D97-AF65-F5344CB8AC3E}">
        <p14:creationId xmlns:p14="http://schemas.microsoft.com/office/powerpoint/2010/main" val="319338530"/>
      </p:ext>
    </p:extLst>
  </p:cSld>
  <p:clrMapOvr>
    <a:masterClrMapping/>
  </p:clrMapOvr>
</p:sld>
</file>

<file path=ppt/theme/theme1.xml><?xml version="1.0" encoding="utf-8"?>
<a:theme xmlns:a="http://schemas.openxmlformats.org/drawingml/2006/main" name="eeqmul">
  <a:themeElements>
    <a:clrScheme name="eeqmu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eqmul">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eqmu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eeqmu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eeqmu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eeqmu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eeqmu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eeqmu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eeqmu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eeqmu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eeqmu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eeqmu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eeqmu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eeqmu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F6E9D96-3482-4ADA-9FFA-61159F46B5C0}">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elem011</Template>
  <TotalTime>49063</TotalTime>
  <Words>738</Words>
  <Application>Microsoft Office PowerPoint</Application>
  <PresentationFormat>Widescreen</PresentationFormat>
  <Paragraphs>62</Paragraphs>
  <Slides>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Garamond</vt:lpstr>
      <vt:lpstr>Wingdings</vt:lpstr>
      <vt:lpstr>eeqmul</vt:lpstr>
      <vt:lpstr>Group Project Overview </vt:lpstr>
      <vt:lpstr>Principles of Effective Prompt Engineering</vt:lpstr>
      <vt:lpstr>Crafting Effective Prompts Using Knowledge Learnt</vt:lpstr>
      <vt:lpstr>Validating AI-Generated Content</vt:lpstr>
      <vt:lpstr>Using Group Discussion to Validate AI Outputs</vt:lpstr>
      <vt:lpstr>Example – Poor vs. Good Argument</vt:lpstr>
      <vt:lpstr>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Yue</dc:creator>
  <cp:lastModifiedBy>Reza Moosaei</cp:lastModifiedBy>
  <cp:revision>1112</cp:revision>
  <cp:lastPrinted>2022-01-23T20:07:30Z</cp:lastPrinted>
  <dcterms:created xsi:type="dcterms:W3CDTF">1601-01-01T00:00:00Z</dcterms:created>
  <dcterms:modified xsi:type="dcterms:W3CDTF">2025-03-20T09:33:24Z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